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1" r:id="rId2"/>
    <p:sldId id="2562" r:id="rId3"/>
    <p:sldId id="2594" r:id="rId4"/>
    <p:sldId id="2563" r:id="rId5"/>
    <p:sldId id="2564" r:id="rId6"/>
    <p:sldId id="2565" r:id="rId7"/>
    <p:sldId id="2566" r:id="rId8"/>
    <p:sldId id="2590" r:id="rId9"/>
    <p:sldId id="2567" r:id="rId10"/>
    <p:sldId id="2568" r:id="rId11"/>
    <p:sldId id="2569" r:id="rId12"/>
    <p:sldId id="258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 id="2595" r:id="rId32"/>
    <p:sldId id="2592" r:id="rId3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mated Garden System: Integration of ESP + LoRa &amp; Raspberry Pi for Efficient Garden Management" id="{DC463606-703E-4E38-B81D-A0770E46999B}">
          <p14:sldIdLst>
            <p14:sldId id="2561"/>
            <p14:sldId id="2562"/>
            <p14:sldId id="2594"/>
          </p14:sldIdLst>
        </p14:section>
        <p14:section name="Introduction to Garden Automation" id="{6ABCECDA-5094-486D-8A38-D37B191EEDAA}">
          <p14:sldIdLst>
            <p14:sldId id="2563"/>
            <p14:sldId id="2564"/>
            <p14:sldId id="2565"/>
            <p14:sldId id="2566"/>
            <p14:sldId id="2590"/>
          </p14:sldIdLst>
        </p14:section>
        <p14:section name="System Architecture and Components" id="{3D85AFA8-6055-4ECC-86CE-CF866BD756CB}">
          <p14:sldIdLst>
            <p14:sldId id="2567"/>
            <p14:sldId id="2568"/>
            <p14:sldId id="2569"/>
            <p14:sldId id="2589"/>
            <p14:sldId id="2570"/>
          </p14:sldIdLst>
        </p14:section>
        <p14:section name="Sensors and Controllers" id="{3E92AC33-7BBD-4D76-9E51-8EE5A90656BA}">
          <p14:sldIdLst>
            <p14:sldId id="2571"/>
            <p14:sldId id="2572"/>
            <p14:sldId id="2573"/>
            <p14:sldId id="2574"/>
          </p14:sldIdLst>
        </p14:section>
        <p14:section name="Communication Protocols and Data Flow" id="{DC640854-66C7-459D-8D79-EC6848E9FFDE}">
          <p14:sldIdLst>
            <p14:sldId id="2575"/>
            <p14:sldId id="2576"/>
            <p14:sldId id="2577"/>
            <p14:sldId id="2578"/>
          </p14:sldIdLst>
        </p14:section>
        <p14:section name="Implementation and Programming" id="{A1264CAD-8079-4ED5-9837-B3CAC532A15C}">
          <p14:sldIdLst>
            <p14:sldId id="2579"/>
            <p14:sldId id="2580"/>
            <p14:sldId id="2581"/>
            <p14:sldId id="2582"/>
          </p14:sldIdLst>
        </p14:section>
        <p14:section name="Monitoring and Maintenance" id="{C048C346-C40F-4E64-BB02-FF90BF0CC4FE}">
          <p14:sldIdLst>
            <p14:sldId id="2583"/>
            <p14:sldId id="2584"/>
            <p14:sldId id="2585"/>
            <p14:sldId id="2586"/>
          </p14:sldIdLst>
        </p14:section>
        <p14:section name="Conclusion" id="{CBD93237-BB46-4161-9FB3-B95DFD337D83}">
          <p14:sldIdLst>
            <p14:sldId id="2587"/>
            <p14:sldId id="2595"/>
            <p14:sldId id="259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B4AF1A-68B7-4E03-8DF2-4CFAD9B0C0F8}" v="24" dt="2025-07-08T22:11:26.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86" d="100"/>
          <a:sy n="86" d="100"/>
        </p:scale>
        <p:origin x="90" y="420"/>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aro Adriano Beck" userId="ca00acb247e603aa" providerId="LiveId" clId="{53B4AF1A-68B7-4E03-8DF2-4CFAD9B0C0F8}"/>
    <pc:docChg chg="custSel addSld delSld modSld sldOrd modSection">
      <pc:chgData name="Alvaro Adriano Beck" userId="ca00acb247e603aa" providerId="LiveId" clId="{53B4AF1A-68B7-4E03-8DF2-4CFAD9B0C0F8}" dt="2025-07-08T22:12:03.946" v="240" actId="20577"/>
      <pc:docMkLst>
        <pc:docMk/>
      </pc:docMkLst>
      <pc:sldChg chg="modSp">
        <pc:chgData name="Alvaro Adriano Beck" userId="ca00acb247e603aa" providerId="LiveId" clId="{53B4AF1A-68B7-4E03-8DF2-4CFAD9B0C0F8}" dt="2025-07-08T22:11:26.270" v="217" actId="20577"/>
        <pc:sldMkLst>
          <pc:docMk/>
          <pc:sldMk cId="3093116934" sldId="2562"/>
        </pc:sldMkLst>
        <pc:spChg chg="mod">
          <ac:chgData name="Alvaro Adriano Beck" userId="ca00acb247e603aa" providerId="LiveId" clId="{53B4AF1A-68B7-4E03-8DF2-4CFAD9B0C0F8}" dt="2025-07-08T22:11:26.270" v="217" actId="20577"/>
          <ac:spMkLst>
            <pc:docMk/>
            <pc:sldMk cId="3093116934" sldId="2562"/>
            <ac:spMk id="4" creationId="{3803B795-01AB-FEAB-7D5C-1E68E0A5BB7E}"/>
          </ac:spMkLst>
        </pc:spChg>
      </pc:sldChg>
      <pc:sldChg chg="ord">
        <pc:chgData name="Alvaro Adriano Beck" userId="ca00acb247e603aa" providerId="LiveId" clId="{53B4AF1A-68B7-4E03-8DF2-4CFAD9B0C0F8}" dt="2025-07-08T21:45:40.919" v="20"/>
        <pc:sldMkLst>
          <pc:docMk/>
          <pc:sldMk cId="2797401037" sldId="2566"/>
        </pc:sldMkLst>
      </pc:sldChg>
      <pc:sldChg chg="ord">
        <pc:chgData name="Alvaro Adriano Beck" userId="ca00acb247e603aa" providerId="LiveId" clId="{53B4AF1A-68B7-4E03-8DF2-4CFAD9B0C0F8}" dt="2025-07-08T22:06:25.340" v="184"/>
        <pc:sldMkLst>
          <pc:docMk/>
          <pc:sldMk cId="1697959526" sldId="2587"/>
        </pc:sldMkLst>
      </pc:sldChg>
      <pc:sldChg chg="addSp modSp add del mod ord setBg">
        <pc:chgData name="Alvaro Adriano Beck" userId="ca00acb247e603aa" providerId="LiveId" clId="{53B4AF1A-68B7-4E03-8DF2-4CFAD9B0C0F8}" dt="2025-07-08T21:36:08.221" v="10" actId="2696"/>
        <pc:sldMkLst>
          <pc:docMk/>
          <pc:sldMk cId="2136525570" sldId="2588"/>
        </pc:sldMkLst>
        <pc:spChg chg="mod">
          <ac:chgData name="Alvaro Adriano Beck" userId="ca00acb247e603aa" providerId="LiveId" clId="{53B4AF1A-68B7-4E03-8DF2-4CFAD9B0C0F8}" dt="2025-07-08T21:29:18.450" v="1" actId="34807"/>
          <ac:spMkLst>
            <pc:docMk/>
            <pc:sldMk cId="2136525570" sldId="2588"/>
            <ac:spMk id="2" creationId="{8C98866D-7672-0612-F031-892F79C3CBDE}"/>
          </ac:spMkLst>
        </pc:spChg>
        <pc:spChg chg="mod">
          <ac:chgData name="Alvaro Adriano Beck" userId="ca00acb247e603aa" providerId="LiveId" clId="{53B4AF1A-68B7-4E03-8DF2-4CFAD9B0C0F8}" dt="2025-07-08T21:29:18.450" v="1" actId="34807"/>
          <ac:spMkLst>
            <pc:docMk/>
            <pc:sldMk cId="2136525570" sldId="2588"/>
            <ac:spMk id="4" creationId="{9D67CAF6-B13E-1587-FF3D-D320D1172DA4}"/>
          </ac:spMkLst>
        </pc:spChg>
        <pc:spChg chg="add">
          <ac:chgData name="Alvaro Adriano Beck" userId="ca00acb247e603aa" providerId="LiveId" clId="{53B4AF1A-68B7-4E03-8DF2-4CFAD9B0C0F8}" dt="2025-07-08T21:29:18.450" v="1" actId="34807"/>
          <ac:spMkLst>
            <pc:docMk/>
            <pc:sldMk cId="2136525570" sldId="2588"/>
            <ac:spMk id="10" creationId="{C20CE451-818C-E63D-258B-234B6C543D34}"/>
          </ac:spMkLst>
        </pc:spChg>
        <pc:picChg chg="mod ord">
          <ac:chgData name="Alvaro Adriano Beck" userId="ca00acb247e603aa" providerId="LiveId" clId="{53B4AF1A-68B7-4E03-8DF2-4CFAD9B0C0F8}" dt="2025-07-08T21:29:18.450" v="1" actId="34807"/>
          <ac:picMkLst>
            <pc:docMk/>
            <pc:sldMk cId="2136525570" sldId="2588"/>
            <ac:picMk id="5" creationId="{C8F1EB48-3C54-4A17-BE8D-41847F3E2F23}"/>
          </ac:picMkLst>
        </pc:picChg>
      </pc:sldChg>
      <pc:sldChg chg="addSp modSp add mod setBg">
        <pc:chgData name="Alvaro Adriano Beck" userId="ca00acb247e603aa" providerId="LiveId" clId="{53B4AF1A-68B7-4E03-8DF2-4CFAD9B0C0F8}" dt="2025-07-08T21:35:55.863" v="9" actId="34807"/>
        <pc:sldMkLst>
          <pc:docMk/>
          <pc:sldMk cId="1373708406" sldId="2589"/>
        </pc:sldMkLst>
        <pc:spChg chg="mod">
          <ac:chgData name="Alvaro Adriano Beck" userId="ca00acb247e603aa" providerId="LiveId" clId="{53B4AF1A-68B7-4E03-8DF2-4CFAD9B0C0F8}" dt="2025-07-08T21:35:55.863" v="9" actId="34807"/>
          <ac:spMkLst>
            <pc:docMk/>
            <pc:sldMk cId="1373708406" sldId="2589"/>
            <ac:spMk id="2" creationId="{1A49F89D-9848-8F76-B3EE-74848798A5D7}"/>
          </ac:spMkLst>
        </pc:spChg>
        <pc:spChg chg="mod">
          <ac:chgData name="Alvaro Adriano Beck" userId="ca00acb247e603aa" providerId="LiveId" clId="{53B4AF1A-68B7-4E03-8DF2-4CFAD9B0C0F8}" dt="2025-07-08T21:35:55.863" v="9" actId="34807"/>
          <ac:spMkLst>
            <pc:docMk/>
            <pc:sldMk cId="1373708406" sldId="2589"/>
            <ac:spMk id="4" creationId="{DAB13960-8B67-B6B3-23C7-0B063C0C38CD}"/>
          </ac:spMkLst>
        </pc:spChg>
        <pc:spChg chg="add">
          <ac:chgData name="Alvaro Adriano Beck" userId="ca00acb247e603aa" providerId="LiveId" clId="{53B4AF1A-68B7-4E03-8DF2-4CFAD9B0C0F8}" dt="2025-07-08T21:35:55.863" v="9" actId="34807"/>
          <ac:spMkLst>
            <pc:docMk/>
            <pc:sldMk cId="1373708406" sldId="2589"/>
            <ac:spMk id="10" creationId="{C20CE451-818C-E63D-258B-234B6C543D34}"/>
          </ac:spMkLst>
        </pc:spChg>
        <pc:picChg chg="mod ord">
          <ac:chgData name="Alvaro Adriano Beck" userId="ca00acb247e603aa" providerId="LiveId" clId="{53B4AF1A-68B7-4E03-8DF2-4CFAD9B0C0F8}" dt="2025-07-08T21:35:55.863" v="9" actId="34807"/>
          <ac:picMkLst>
            <pc:docMk/>
            <pc:sldMk cId="1373708406" sldId="2589"/>
            <ac:picMk id="5" creationId="{95FD98A0-6CDA-4114-A0F7-5771EAA0AFD0}"/>
          </ac:picMkLst>
        </pc:picChg>
      </pc:sldChg>
      <pc:sldChg chg="add del">
        <pc:chgData name="Alvaro Adriano Beck" userId="ca00acb247e603aa" providerId="LiveId" clId="{53B4AF1A-68B7-4E03-8DF2-4CFAD9B0C0F8}" dt="2025-07-08T21:35:08.929" v="6" actId="2696"/>
        <pc:sldMkLst>
          <pc:docMk/>
          <pc:sldMk cId="2266155998" sldId="2589"/>
        </pc:sldMkLst>
      </pc:sldChg>
      <pc:sldChg chg="add del">
        <pc:chgData name="Alvaro Adriano Beck" userId="ca00acb247e603aa" providerId="LiveId" clId="{53B4AF1A-68B7-4E03-8DF2-4CFAD9B0C0F8}" dt="2025-07-08T21:35:11.858" v="7" actId="2696"/>
        <pc:sldMkLst>
          <pc:docMk/>
          <pc:sldMk cId="1391497214" sldId="2590"/>
        </pc:sldMkLst>
      </pc:sldChg>
      <pc:sldChg chg="addSp modSp add mod setBg">
        <pc:chgData name="Alvaro Adriano Beck" userId="ca00acb247e603aa" providerId="LiveId" clId="{53B4AF1A-68B7-4E03-8DF2-4CFAD9B0C0F8}" dt="2025-07-08T21:39:46.569" v="12" actId="34807"/>
        <pc:sldMkLst>
          <pc:docMk/>
          <pc:sldMk cId="2699620942" sldId="2590"/>
        </pc:sldMkLst>
        <pc:spChg chg="mod">
          <ac:chgData name="Alvaro Adriano Beck" userId="ca00acb247e603aa" providerId="LiveId" clId="{53B4AF1A-68B7-4E03-8DF2-4CFAD9B0C0F8}" dt="2025-07-08T21:39:46.569" v="12" actId="34807"/>
          <ac:spMkLst>
            <pc:docMk/>
            <pc:sldMk cId="2699620942" sldId="2590"/>
            <ac:spMk id="2" creationId="{1BFC6E76-2A05-4C1D-0F56-12CF05F341A2}"/>
          </ac:spMkLst>
        </pc:spChg>
        <pc:spChg chg="mod">
          <ac:chgData name="Alvaro Adriano Beck" userId="ca00acb247e603aa" providerId="LiveId" clId="{53B4AF1A-68B7-4E03-8DF2-4CFAD9B0C0F8}" dt="2025-07-08T21:39:46.569" v="12" actId="34807"/>
          <ac:spMkLst>
            <pc:docMk/>
            <pc:sldMk cId="2699620942" sldId="2590"/>
            <ac:spMk id="4" creationId="{BA72F1A6-FFB5-ABDE-F8D0-1648327893C0}"/>
          </ac:spMkLst>
        </pc:spChg>
        <pc:spChg chg="add">
          <ac:chgData name="Alvaro Adriano Beck" userId="ca00acb247e603aa" providerId="LiveId" clId="{53B4AF1A-68B7-4E03-8DF2-4CFAD9B0C0F8}" dt="2025-07-08T21:39:46.569" v="12" actId="34807"/>
          <ac:spMkLst>
            <pc:docMk/>
            <pc:sldMk cId="2699620942" sldId="2590"/>
            <ac:spMk id="10" creationId="{CBB0869A-0BE5-B3E9-F73D-2F3691E4D932}"/>
          </ac:spMkLst>
        </pc:spChg>
        <pc:picChg chg="mod ord">
          <ac:chgData name="Alvaro Adriano Beck" userId="ca00acb247e603aa" providerId="LiveId" clId="{53B4AF1A-68B7-4E03-8DF2-4CFAD9B0C0F8}" dt="2025-07-08T21:39:46.569" v="12" actId="34807"/>
          <ac:picMkLst>
            <pc:docMk/>
            <pc:sldMk cId="2699620942" sldId="2590"/>
            <ac:picMk id="5" creationId="{CEA1DC0B-0FDF-4934-86B7-286B960BC175}"/>
          </ac:picMkLst>
        </pc:picChg>
      </pc:sldChg>
      <pc:sldChg chg="addSp modSp add del mod setBg">
        <pc:chgData name="Alvaro Adriano Beck" userId="ca00acb247e603aa" providerId="LiveId" clId="{53B4AF1A-68B7-4E03-8DF2-4CFAD9B0C0F8}" dt="2025-07-08T21:44:36.519" v="17" actId="2696"/>
        <pc:sldMkLst>
          <pc:docMk/>
          <pc:sldMk cId="1587520307" sldId="2591"/>
        </pc:sldMkLst>
        <pc:spChg chg="mod">
          <ac:chgData name="Alvaro Adriano Beck" userId="ca00acb247e603aa" providerId="LiveId" clId="{53B4AF1A-68B7-4E03-8DF2-4CFAD9B0C0F8}" dt="2025-07-08T21:42:29.881" v="14" actId="34807"/>
          <ac:spMkLst>
            <pc:docMk/>
            <pc:sldMk cId="1587520307" sldId="2591"/>
            <ac:spMk id="2" creationId="{D7655B9A-85FA-CE88-B4DD-B150223C9E8B}"/>
          </ac:spMkLst>
        </pc:spChg>
        <pc:spChg chg="mod">
          <ac:chgData name="Alvaro Adriano Beck" userId="ca00acb247e603aa" providerId="LiveId" clId="{53B4AF1A-68B7-4E03-8DF2-4CFAD9B0C0F8}" dt="2025-07-08T21:42:29.881" v="14" actId="34807"/>
          <ac:spMkLst>
            <pc:docMk/>
            <pc:sldMk cId="1587520307" sldId="2591"/>
            <ac:spMk id="4" creationId="{FB483402-E522-BF64-F5F1-27AB4EC50AE9}"/>
          </ac:spMkLst>
        </pc:spChg>
        <pc:spChg chg="add">
          <ac:chgData name="Alvaro Adriano Beck" userId="ca00acb247e603aa" providerId="LiveId" clId="{53B4AF1A-68B7-4E03-8DF2-4CFAD9B0C0F8}" dt="2025-07-08T21:42:29.881" v="14" actId="34807"/>
          <ac:spMkLst>
            <pc:docMk/>
            <pc:sldMk cId="1587520307" sldId="2591"/>
            <ac:spMk id="10" creationId="{CBB0869A-0BE5-B3E9-F73D-2F3691E4D932}"/>
          </ac:spMkLst>
        </pc:spChg>
        <pc:picChg chg="mod ord">
          <ac:chgData name="Alvaro Adriano Beck" userId="ca00acb247e603aa" providerId="LiveId" clId="{53B4AF1A-68B7-4E03-8DF2-4CFAD9B0C0F8}" dt="2025-07-08T21:42:29.881" v="14" actId="34807"/>
          <ac:picMkLst>
            <pc:docMk/>
            <pc:sldMk cId="1587520307" sldId="2591"/>
            <ac:picMk id="5" creationId="{27F31D66-FD87-4760-85AC-89241DB8FF45}"/>
          </ac:picMkLst>
        </pc:picChg>
      </pc:sldChg>
      <pc:sldChg chg="addSp modSp add mod ord setBg">
        <pc:chgData name="Alvaro Adriano Beck" userId="ca00acb247e603aa" providerId="LiveId" clId="{53B4AF1A-68B7-4E03-8DF2-4CFAD9B0C0F8}" dt="2025-07-08T22:11:37.212" v="219"/>
        <pc:sldMkLst>
          <pc:docMk/>
          <pc:sldMk cId="1684455718" sldId="2592"/>
        </pc:sldMkLst>
        <pc:spChg chg="mod">
          <ac:chgData name="Alvaro Adriano Beck" userId="ca00acb247e603aa" providerId="LiveId" clId="{53B4AF1A-68B7-4E03-8DF2-4CFAD9B0C0F8}" dt="2025-07-08T21:44:25.509" v="16" actId="34807"/>
          <ac:spMkLst>
            <pc:docMk/>
            <pc:sldMk cId="1684455718" sldId="2592"/>
            <ac:spMk id="2" creationId="{6E6EDB1E-E880-EA89-AE81-32247DC79596}"/>
          </ac:spMkLst>
        </pc:spChg>
        <pc:spChg chg="mod">
          <ac:chgData name="Alvaro Adriano Beck" userId="ca00acb247e603aa" providerId="LiveId" clId="{53B4AF1A-68B7-4E03-8DF2-4CFAD9B0C0F8}" dt="2025-07-08T22:01:13.930" v="173" actId="20577"/>
          <ac:spMkLst>
            <pc:docMk/>
            <pc:sldMk cId="1684455718" sldId="2592"/>
            <ac:spMk id="4" creationId="{40D34FA6-29BA-1D84-9591-57AAE979CB7C}"/>
          </ac:spMkLst>
        </pc:spChg>
        <pc:spChg chg="add">
          <ac:chgData name="Alvaro Adriano Beck" userId="ca00acb247e603aa" providerId="LiveId" clId="{53B4AF1A-68B7-4E03-8DF2-4CFAD9B0C0F8}" dt="2025-07-08T21:44:25.509" v="16" actId="34807"/>
          <ac:spMkLst>
            <pc:docMk/>
            <pc:sldMk cId="1684455718" sldId="2592"/>
            <ac:spMk id="10" creationId="{C20CE451-818C-E63D-258B-234B6C543D34}"/>
          </ac:spMkLst>
        </pc:spChg>
        <pc:picChg chg="mod ord">
          <ac:chgData name="Alvaro Adriano Beck" userId="ca00acb247e603aa" providerId="LiveId" clId="{53B4AF1A-68B7-4E03-8DF2-4CFAD9B0C0F8}" dt="2025-07-08T21:44:25.509" v="16" actId="34807"/>
          <ac:picMkLst>
            <pc:docMk/>
            <pc:sldMk cId="1684455718" sldId="2592"/>
            <ac:picMk id="5" creationId="{C27062CB-9E3A-459F-84A9-BB721451446B}"/>
          </ac:picMkLst>
        </pc:picChg>
      </pc:sldChg>
      <pc:sldChg chg="addSp modSp add del mod setBg">
        <pc:chgData name="Alvaro Adriano Beck" userId="ca00acb247e603aa" providerId="LiveId" clId="{53B4AF1A-68B7-4E03-8DF2-4CFAD9B0C0F8}" dt="2025-07-08T22:05:25.995" v="182" actId="2696"/>
        <pc:sldMkLst>
          <pc:docMk/>
          <pc:sldMk cId="536257884" sldId="2593"/>
        </pc:sldMkLst>
        <pc:spChg chg="mod">
          <ac:chgData name="Alvaro Adriano Beck" userId="ca00acb247e603aa" providerId="LiveId" clId="{53B4AF1A-68B7-4E03-8DF2-4CFAD9B0C0F8}" dt="2025-07-08T22:04:14.830" v="179" actId="34807"/>
          <ac:spMkLst>
            <pc:docMk/>
            <pc:sldMk cId="536257884" sldId="2593"/>
            <ac:spMk id="2" creationId="{4B1F6C1D-26EB-666C-B616-FA33777A4D0C}"/>
          </ac:spMkLst>
        </pc:spChg>
        <pc:spChg chg="mod">
          <ac:chgData name="Alvaro Adriano Beck" userId="ca00acb247e603aa" providerId="LiveId" clId="{53B4AF1A-68B7-4E03-8DF2-4CFAD9B0C0F8}" dt="2025-07-08T22:04:14.830" v="179" actId="34807"/>
          <ac:spMkLst>
            <pc:docMk/>
            <pc:sldMk cId="536257884" sldId="2593"/>
            <ac:spMk id="4" creationId="{2F34428A-A3AC-15AC-3A05-CC2D7BC2249F}"/>
          </ac:spMkLst>
        </pc:spChg>
        <pc:spChg chg="add">
          <ac:chgData name="Alvaro Adriano Beck" userId="ca00acb247e603aa" providerId="LiveId" clId="{53B4AF1A-68B7-4E03-8DF2-4CFAD9B0C0F8}" dt="2025-07-08T22:04:14.830" v="179" actId="34807"/>
          <ac:spMkLst>
            <pc:docMk/>
            <pc:sldMk cId="536257884" sldId="2593"/>
            <ac:spMk id="10" creationId="{CBB0869A-0BE5-B3E9-F73D-2F3691E4D932}"/>
          </ac:spMkLst>
        </pc:spChg>
        <pc:picChg chg="mod ord">
          <ac:chgData name="Alvaro Adriano Beck" userId="ca00acb247e603aa" providerId="LiveId" clId="{53B4AF1A-68B7-4E03-8DF2-4CFAD9B0C0F8}" dt="2025-07-08T22:04:14.830" v="179" actId="34807"/>
          <ac:picMkLst>
            <pc:docMk/>
            <pc:sldMk cId="536257884" sldId="2593"/>
            <ac:picMk id="5" creationId="{96F2D4A1-EA8D-4A09-91E4-77C555F5A652}"/>
          </ac:picMkLst>
        </pc:picChg>
      </pc:sldChg>
      <pc:sldChg chg="addSp modSp add mod ord setBg">
        <pc:chgData name="Alvaro Adriano Beck" userId="ca00acb247e603aa" providerId="LiveId" clId="{53B4AF1A-68B7-4E03-8DF2-4CFAD9B0C0F8}" dt="2025-07-08T22:10:45.942" v="194"/>
        <pc:sldMkLst>
          <pc:docMk/>
          <pc:sldMk cId="2387284121" sldId="2594"/>
        </pc:sldMkLst>
        <pc:spChg chg="mod">
          <ac:chgData name="Alvaro Adriano Beck" userId="ca00acb247e603aa" providerId="LiveId" clId="{53B4AF1A-68B7-4E03-8DF2-4CFAD9B0C0F8}" dt="2025-07-08T22:05:15.599" v="181" actId="34807"/>
          <ac:spMkLst>
            <pc:docMk/>
            <pc:sldMk cId="2387284121" sldId="2594"/>
            <ac:spMk id="2" creationId="{E5A34769-9097-A5F9-4313-AF9407098B44}"/>
          </ac:spMkLst>
        </pc:spChg>
        <pc:spChg chg="mod">
          <ac:chgData name="Alvaro Adriano Beck" userId="ca00acb247e603aa" providerId="LiveId" clId="{53B4AF1A-68B7-4E03-8DF2-4CFAD9B0C0F8}" dt="2025-07-08T22:05:15.599" v="181" actId="34807"/>
          <ac:spMkLst>
            <pc:docMk/>
            <pc:sldMk cId="2387284121" sldId="2594"/>
            <ac:spMk id="4" creationId="{0A8678A3-C031-F048-B1D7-3ED160D79596}"/>
          </ac:spMkLst>
        </pc:spChg>
        <pc:spChg chg="add">
          <ac:chgData name="Alvaro Adriano Beck" userId="ca00acb247e603aa" providerId="LiveId" clId="{53B4AF1A-68B7-4E03-8DF2-4CFAD9B0C0F8}" dt="2025-07-08T22:05:15.599" v="181" actId="34807"/>
          <ac:spMkLst>
            <pc:docMk/>
            <pc:sldMk cId="2387284121" sldId="2594"/>
            <ac:spMk id="10" creationId="{CBB0869A-0BE5-B3E9-F73D-2F3691E4D932}"/>
          </ac:spMkLst>
        </pc:spChg>
        <pc:picChg chg="mod ord">
          <ac:chgData name="Alvaro Adriano Beck" userId="ca00acb247e603aa" providerId="LiveId" clId="{53B4AF1A-68B7-4E03-8DF2-4CFAD9B0C0F8}" dt="2025-07-08T22:05:15.599" v="181" actId="34807"/>
          <ac:picMkLst>
            <pc:docMk/>
            <pc:sldMk cId="2387284121" sldId="2594"/>
            <ac:picMk id="5" creationId="{FB5DF42E-ABA5-46E9-B076-FE4DFF0B0AD5}"/>
          </ac:picMkLst>
        </pc:picChg>
      </pc:sldChg>
      <pc:sldChg chg="addSp modSp add mod ord setBg">
        <pc:chgData name="Alvaro Adriano Beck" userId="ca00acb247e603aa" providerId="LiveId" clId="{53B4AF1A-68B7-4E03-8DF2-4CFAD9B0C0F8}" dt="2025-07-08T22:12:03.946" v="240" actId="20577"/>
        <pc:sldMkLst>
          <pc:docMk/>
          <pc:sldMk cId="1968350242" sldId="2595"/>
        </pc:sldMkLst>
        <pc:spChg chg="mod">
          <ac:chgData name="Alvaro Adriano Beck" userId="ca00acb247e603aa" providerId="LiveId" clId="{53B4AF1A-68B7-4E03-8DF2-4CFAD9B0C0F8}" dt="2025-07-08T22:12:03.946" v="240" actId="20577"/>
          <ac:spMkLst>
            <pc:docMk/>
            <pc:sldMk cId="1968350242" sldId="2595"/>
            <ac:spMk id="2" creationId="{78B1AEE5-E96F-B726-BEFE-55124146C801}"/>
          </ac:spMkLst>
        </pc:spChg>
        <pc:spChg chg="mod">
          <ac:chgData name="Alvaro Adriano Beck" userId="ca00acb247e603aa" providerId="LiveId" clId="{53B4AF1A-68B7-4E03-8DF2-4CFAD9B0C0F8}" dt="2025-07-08T22:09:09.185" v="189" actId="34807"/>
          <ac:spMkLst>
            <pc:docMk/>
            <pc:sldMk cId="1968350242" sldId="2595"/>
            <ac:spMk id="4" creationId="{A48303B6-60AC-B431-4255-8F393D3AFC6E}"/>
          </ac:spMkLst>
        </pc:spChg>
        <pc:spChg chg="add">
          <ac:chgData name="Alvaro Adriano Beck" userId="ca00acb247e603aa" providerId="LiveId" clId="{53B4AF1A-68B7-4E03-8DF2-4CFAD9B0C0F8}" dt="2025-07-08T22:09:09.185" v="189" actId="34807"/>
          <ac:spMkLst>
            <pc:docMk/>
            <pc:sldMk cId="1968350242" sldId="2595"/>
            <ac:spMk id="10" creationId="{5E8D3B17-7638-DFD3-18E4-8A6D611749CF}"/>
          </ac:spMkLst>
        </pc:spChg>
        <pc:picChg chg="mod">
          <ac:chgData name="Alvaro Adriano Beck" userId="ca00acb247e603aa" providerId="LiveId" clId="{53B4AF1A-68B7-4E03-8DF2-4CFAD9B0C0F8}" dt="2025-07-08T22:09:09.185" v="189" actId="34807"/>
          <ac:picMkLst>
            <pc:docMk/>
            <pc:sldMk cId="1968350242" sldId="2595"/>
            <ac:picMk id="5" creationId="{C7488106-3361-4B0C-B213-EC0A702FB9F8}"/>
          </ac:picMkLst>
        </pc:picChg>
      </pc:sldChg>
      <pc:sldChg chg="addSp modSp add del mod setBg">
        <pc:chgData name="Alvaro Adriano Beck" userId="ca00acb247e603aa" providerId="LiveId" clId="{53B4AF1A-68B7-4E03-8DF2-4CFAD9B0C0F8}" dt="2025-07-08T22:08:12.173" v="187" actId="2696"/>
        <pc:sldMkLst>
          <pc:docMk/>
          <pc:sldMk cId="3513756360" sldId="2595"/>
        </pc:sldMkLst>
        <pc:spChg chg="mod">
          <ac:chgData name="Alvaro Adriano Beck" userId="ca00acb247e603aa" providerId="LiveId" clId="{53B4AF1A-68B7-4E03-8DF2-4CFAD9B0C0F8}" dt="2025-07-08T22:07:37.590" v="186" actId="34807"/>
          <ac:spMkLst>
            <pc:docMk/>
            <pc:sldMk cId="3513756360" sldId="2595"/>
            <ac:spMk id="2" creationId="{A98AD79E-B4BE-2ABD-7B8B-35C6579E9F6A}"/>
          </ac:spMkLst>
        </pc:spChg>
        <pc:spChg chg="mod">
          <ac:chgData name="Alvaro Adriano Beck" userId="ca00acb247e603aa" providerId="LiveId" clId="{53B4AF1A-68B7-4E03-8DF2-4CFAD9B0C0F8}" dt="2025-07-08T22:07:37.590" v="186" actId="34807"/>
          <ac:spMkLst>
            <pc:docMk/>
            <pc:sldMk cId="3513756360" sldId="2595"/>
            <ac:spMk id="4" creationId="{FBFA8CBA-9D4A-FBBB-4697-4926399B02D3}"/>
          </ac:spMkLst>
        </pc:spChg>
        <pc:spChg chg="add">
          <ac:chgData name="Alvaro Adriano Beck" userId="ca00acb247e603aa" providerId="LiveId" clId="{53B4AF1A-68B7-4E03-8DF2-4CFAD9B0C0F8}" dt="2025-07-08T22:07:37.590" v="186" actId="34807"/>
          <ac:spMkLst>
            <pc:docMk/>
            <pc:sldMk cId="3513756360" sldId="2595"/>
            <ac:spMk id="10" creationId="{C20CE451-818C-E63D-258B-234B6C543D34}"/>
          </ac:spMkLst>
        </pc:spChg>
        <pc:picChg chg="mod ord">
          <ac:chgData name="Alvaro Adriano Beck" userId="ca00acb247e603aa" providerId="LiveId" clId="{53B4AF1A-68B7-4E03-8DF2-4CFAD9B0C0F8}" dt="2025-07-08T22:07:37.590" v="186" actId="34807"/>
          <ac:picMkLst>
            <pc:docMk/>
            <pc:sldMk cId="3513756360" sldId="2595"/>
            <ac:picMk id="5" creationId="{E77D3A96-D026-4997-A6AA-2E8A4D0B57B9}"/>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_rels/data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C84FB6-2B6B-458D-B86C-C19E6377220B}"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pt-BR"/>
        </a:p>
      </dgm:t>
    </dgm:pt>
    <dgm:pt modelId="{A54B2D1E-8A8A-4CEC-BEF6-8232673096CA}">
      <dgm:prSet/>
      <dgm:spPr/>
      <dgm:t>
        <a:bodyPr/>
        <a:lstStyle/>
        <a:p>
          <a:pPr>
            <a:lnSpc>
              <a:spcPct val="100000"/>
            </a:lnSpc>
            <a:defRPr b="1"/>
          </a:pPr>
          <a:r>
            <a:rPr lang="pt-BR"/>
            <a:t>Distinct Garden Designs</a:t>
          </a:r>
        </a:p>
      </dgm:t>
    </dgm:pt>
    <dgm:pt modelId="{D9D7DEB5-3D45-4CEE-9F39-DFB17D2AADD5}" type="parTrans" cxnId="{31009B5B-E42E-4266-AFD5-BA4538D9443E}">
      <dgm:prSet/>
      <dgm:spPr/>
      <dgm:t>
        <a:bodyPr/>
        <a:lstStyle/>
        <a:p>
          <a:endParaRPr lang="pt-BR"/>
        </a:p>
      </dgm:t>
    </dgm:pt>
    <dgm:pt modelId="{F43B5440-36F4-4892-BB23-48554992AD0A}" type="sibTrans" cxnId="{31009B5B-E42E-4266-AFD5-BA4538D9443E}">
      <dgm:prSet/>
      <dgm:spPr/>
      <dgm:t>
        <a:bodyPr/>
        <a:lstStyle/>
        <a:p>
          <a:pPr>
            <a:lnSpc>
              <a:spcPct val="100000"/>
            </a:lnSpc>
            <a:defRPr b="1"/>
          </a:pPr>
          <a:endParaRPr lang="pt-BR"/>
        </a:p>
      </dgm:t>
    </dgm:pt>
    <dgm:pt modelId="{F6FFA026-00C4-458D-B678-9C66D557BE42}">
      <dgm:prSet/>
      <dgm:spPr/>
      <dgm:t>
        <a:bodyPr/>
        <a:lstStyle/>
        <a:p>
          <a:pPr>
            <a:lnSpc>
              <a:spcPct val="100000"/>
            </a:lnSpc>
          </a:pPr>
          <a:r>
            <a:rPr lang="pt-BR"/>
            <a:t>Each garden is designed with specific plants that thrive in their unique conditions, enhancing growth and health.</a:t>
          </a:r>
        </a:p>
      </dgm:t>
    </dgm:pt>
    <dgm:pt modelId="{51F18A04-7C22-435F-93E4-0A7C71541894}" type="parTrans" cxnId="{A4CBE2AB-B8B6-4F33-910D-32005E4FA4E6}">
      <dgm:prSet/>
      <dgm:spPr/>
      <dgm:t>
        <a:bodyPr/>
        <a:lstStyle/>
        <a:p>
          <a:endParaRPr lang="pt-BR"/>
        </a:p>
      </dgm:t>
    </dgm:pt>
    <dgm:pt modelId="{D5D9B700-BEFE-4781-A5DD-ADF32ECE6B52}" type="sibTrans" cxnId="{A4CBE2AB-B8B6-4F33-910D-32005E4FA4E6}">
      <dgm:prSet/>
      <dgm:spPr/>
      <dgm:t>
        <a:bodyPr/>
        <a:lstStyle/>
        <a:p>
          <a:endParaRPr lang="pt-BR"/>
        </a:p>
      </dgm:t>
    </dgm:pt>
    <dgm:pt modelId="{66C3DF5C-6C38-4F18-9DE7-BBB4F35DAC2F}">
      <dgm:prSet/>
      <dgm:spPr/>
      <dgm:t>
        <a:bodyPr/>
        <a:lstStyle/>
        <a:p>
          <a:pPr>
            <a:lnSpc>
              <a:spcPct val="100000"/>
            </a:lnSpc>
            <a:defRPr b="1"/>
          </a:pPr>
          <a:r>
            <a:rPr lang="pt-BR"/>
            <a:t>Tailored Care and Management</a:t>
          </a:r>
        </a:p>
      </dgm:t>
    </dgm:pt>
    <dgm:pt modelId="{13F9E96B-1F77-471D-B9BD-33A7C0FD3222}" type="parTrans" cxnId="{B7ACFAB4-B76C-4C8A-B0DC-AAFC3E3D3557}">
      <dgm:prSet/>
      <dgm:spPr/>
      <dgm:t>
        <a:bodyPr/>
        <a:lstStyle/>
        <a:p>
          <a:endParaRPr lang="pt-BR"/>
        </a:p>
      </dgm:t>
    </dgm:pt>
    <dgm:pt modelId="{4E81D46C-2438-42A0-9AD0-4F64014D6A9A}" type="sibTrans" cxnId="{B7ACFAB4-B76C-4C8A-B0DC-AAFC3E3D3557}">
      <dgm:prSet/>
      <dgm:spPr/>
      <dgm:t>
        <a:bodyPr/>
        <a:lstStyle/>
        <a:p>
          <a:pPr>
            <a:lnSpc>
              <a:spcPct val="100000"/>
            </a:lnSpc>
            <a:defRPr b="1"/>
          </a:pPr>
          <a:endParaRPr lang="pt-BR"/>
        </a:p>
      </dgm:t>
    </dgm:pt>
    <dgm:pt modelId="{76A18C8A-A9F5-4315-99E0-DDB9134D0661}">
      <dgm:prSet/>
      <dgm:spPr/>
      <dgm:t>
        <a:bodyPr/>
        <a:lstStyle/>
        <a:p>
          <a:pPr>
            <a:lnSpc>
              <a:spcPct val="100000"/>
            </a:lnSpc>
          </a:pPr>
          <a:r>
            <a:rPr lang="pt-BR"/>
            <a:t>The segmentation of gardens allows for customized care strategies, ensuring optimal growth and resource utilization.</a:t>
          </a:r>
        </a:p>
      </dgm:t>
    </dgm:pt>
    <dgm:pt modelId="{995332AE-AA73-4A06-8B32-ACAC9D5452ED}" type="parTrans" cxnId="{BB1CB8DB-19DD-4648-832D-479930F0529B}">
      <dgm:prSet/>
      <dgm:spPr/>
      <dgm:t>
        <a:bodyPr/>
        <a:lstStyle/>
        <a:p>
          <a:endParaRPr lang="pt-BR"/>
        </a:p>
      </dgm:t>
    </dgm:pt>
    <dgm:pt modelId="{433164A8-9589-4E2D-AE57-94022765ED12}" type="sibTrans" cxnId="{BB1CB8DB-19DD-4648-832D-479930F0529B}">
      <dgm:prSet/>
      <dgm:spPr/>
      <dgm:t>
        <a:bodyPr/>
        <a:lstStyle/>
        <a:p>
          <a:endParaRPr lang="pt-BR"/>
        </a:p>
      </dgm:t>
    </dgm:pt>
    <dgm:pt modelId="{EBE676A4-AB85-4DFE-B220-052867F699AD}">
      <dgm:prSet/>
      <dgm:spPr/>
      <dgm:t>
        <a:bodyPr/>
        <a:lstStyle/>
        <a:p>
          <a:pPr>
            <a:lnSpc>
              <a:spcPct val="100000"/>
            </a:lnSpc>
            <a:defRPr b="1"/>
          </a:pPr>
          <a:r>
            <a:rPr lang="pt-BR"/>
            <a:t>Optimizing Resources</a:t>
          </a:r>
        </a:p>
      </dgm:t>
    </dgm:pt>
    <dgm:pt modelId="{4742725C-4E3A-4F84-B08D-C2C3060F180E}" type="parTrans" cxnId="{CBCCC6F9-F274-487F-8602-481FB7F55204}">
      <dgm:prSet/>
      <dgm:spPr/>
      <dgm:t>
        <a:bodyPr/>
        <a:lstStyle/>
        <a:p>
          <a:endParaRPr lang="pt-BR"/>
        </a:p>
      </dgm:t>
    </dgm:pt>
    <dgm:pt modelId="{56DBB71E-7315-4CB9-96D8-847C46366AD6}" type="sibTrans" cxnId="{CBCCC6F9-F274-487F-8602-481FB7F55204}">
      <dgm:prSet/>
      <dgm:spPr/>
      <dgm:t>
        <a:bodyPr/>
        <a:lstStyle/>
        <a:p>
          <a:endParaRPr lang="pt-BR"/>
        </a:p>
      </dgm:t>
    </dgm:pt>
    <dgm:pt modelId="{D4FB4C48-2A04-4D44-A6B0-6E72ECA3FBA1}">
      <dgm:prSet/>
      <dgm:spPr/>
      <dgm:t>
        <a:bodyPr/>
        <a:lstStyle/>
        <a:p>
          <a:pPr>
            <a:lnSpc>
              <a:spcPct val="100000"/>
            </a:lnSpc>
          </a:pPr>
          <a:r>
            <a:rPr lang="pt-BR"/>
            <a:t>By managing the gardens separately, resources are optimized, leading to improved output and sustainability.</a:t>
          </a:r>
        </a:p>
      </dgm:t>
    </dgm:pt>
    <dgm:pt modelId="{5DB6BF93-54AB-4AC3-8EB2-38CC24FF47B1}" type="parTrans" cxnId="{1EAADE37-EB13-4773-856A-FD90A91783D7}">
      <dgm:prSet/>
      <dgm:spPr/>
      <dgm:t>
        <a:bodyPr/>
        <a:lstStyle/>
        <a:p>
          <a:endParaRPr lang="pt-BR"/>
        </a:p>
      </dgm:t>
    </dgm:pt>
    <dgm:pt modelId="{0DF6827B-9C2C-4091-9FFE-ED4539763B6B}" type="sibTrans" cxnId="{1EAADE37-EB13-4773-856A-FD90A91783D7}">
      <dgm:prSet/>
      <dgm:spPr/>
      <dgm:t>
        <a:bodyPr/>
        <a:lstStyle/>
        <a:p>
          <a:endParaRPr lang="pt-BR"/>
        </a:p>
      </dgm:t>
    </dgm:pt>
    <dgm:pt modelId="{CC1B5E60-85D0-4840-89A0-0FF8CE8C9D32}" type="pres">
      <dgm:prSet presAssocID="{22C84FB6-2B6B-458D-B86C-C19E6377220B}" presName="Root" presStyleCnt="0">
        <dgm:presLayoutVars>
          <dgm:dir/>
          <dgm:resizeHandles val="exact"/>
        </dgm:presLayoutVars>
      </dgm:prSet>
      <dgm:spPr/>
    </dgm:pt>
    <dgm:pt modelId="{E0B6A727-1998-416E-9130-13F2E7087E6B}" type="pres">
      <dgm:prSet presAssocID="{A54B2D1E-8A8A-4CEC-BEF6-8232673096CA}" presName="Composite" presStyleCnt="0"/>
      <dgm:spPr/>
    </dgm:pt>
    <dgm:pt modelId="{0C72E656-F74A-4C28-A51C-4E0A14E31258}" type="pres">
      <dgm:prSet presAssocID="{A54B2D1E-8A8A-4CEC-BEF6-8232673096CA}"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9718" r="3533" b="2"/>
          <a:stretch/>
        </a:blipFill>
      </dgm:spPr>
      <dgm:extLst>
        <a:ext uri="{E40237B7-FDA0-4F09-8148-C483321AD2D9}">
          <dgm14:cNvPr xmlns:dgm14="http://schemas.microsoft.com/office/drawing/2010/diagram" id="0" name="" descr="flower, decorations,, Textured Effect, Green Color, Wall - Building Feature, Grass, Backgrounds, Nature,"/>
        </a:ext>
      </dgm:extLst>
    </dgm:pt>
    <dgm:pt modelId="{29FC794C-685A-44F0-AC61-A019905D2999}" type="pres">
      <dgm:prSet presAssocID="{A54B2D1E-8A8A-4CEC-BEF6-8232673096CA}" presName="Subtitle" presStyleLbl="revTx" presStyleIdx="0" presStyleCnt="6">
        <dgm:presLayoutVars>
          <dgm:chMax val="0"/>
          <dgm:bulletEnabled/>
        </dgm:presLayoutVars>
      </dgm:prSet>
      <dgm:spPr/>
    </dgm:pt>
    <dgm:pt modelId="{EA62FF92-CF89-4E9F-A2FE-8835AC5F3C1D}" type="pres">
      <dgm:prSet presAssocID="{A54B2D1E-8A8A-4CEC-BEF6-8232673096CA}" presName="Description" presStyleLbl="revTx" presStyleIdx="1" presStyleCnt="6">
        <dgm:presLayoutVars>
          <dgm:bulletEnabled/>
        </dgm:presLayoutVars>
      </dgm:prSet>
      <dgm:spPr/>
    </dgm:pt>
    <dgm:pt modelId="{6D73D132-5387-4818-B911-0A8F05783444}" type="pres">
      <dgm:prSet presAssocID="{F43B5440-36F4-4892-BB23-48554992AD0A}" presName="sibTrans" presStyleLbl="sibTrans2D1" presStyleIdx="0" presStyleCnt="0"/>
      <dgm:spPr/>
    </dgm:pt>
    <dgm:pt modelId="{99BB10F9-1DA7-44AC-AE6B-10501C0F400B}" type="pres">
      <dgm:prSet presAssocID="{66C3DF5C-6C38-4F18-9DE7-BBB4F35DAC2F}" presName="Composite" presStyleCnt="0"/>
      <dgm:spPr/>
    </dgm:pt>
    <dgm:pt modelId="{1D79ACA4-EE75-454D-A2A7-2E44559A42C6}" type="pres">
      <dgm:prSet presAssocID="{66C3DF5C-6C38-4F18-9DE7-BBB4F35DAC2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0727" r="23020" b="-6"/>
          <a:stretch/>
        </a:blipFill>
      </dgm:spPr>
      <dgm:extLst>
        <a:ext uri="{E40237B7-FDA0-4F09-8148-C483321AD2D9}">
          <dgm14:cNvPr xmlns:dgm14="http://schemas.microsoft.com/office/drawing/2010/diagram" id="0" name="" descr="Overhead of gardening tools on table"/>
        </a:ext>
      </dgm:extLst>
    </dgm:pt>
    <dgm:pt modelId="{9B34A02D-52B3-43A9-87F6-BF1CE16606D1}" type="pres">
      <dgm:prSet presAssocID="{66C3DF5C-6C38-4F18-9DE7-BBB4F35DAC2F}" presName="Subtitle" presStyleLbl="revTx" presStyleIdx="2" presStyleCnt="6">
        <dgm:presLayoutVars>
          <dgm:chMax val="0"/>
          <dgm:bulletEnabled/>
        </dgm:presLayoutVars>
      </dgm:prSet>
      <dgm:spPr/>
    </dgm:pt>
    <dgm:pt modelId="{352C8E02-4A0F-40D6-8D80-4659308D9E2E}" type="pres">
      <dgm:prSet presAssocID="{66C3DF5C-6C38-4F18-9DE7-BBB4F35DAC2F}" presName="Description" presStyleLbl="revTx" presStyleIdx="3" presStyleCnt="6">
        <dgm:presLayoutVars>
          <dgm:bulletEnabled/>
        </dgm:presLayoutVars>
      </dgm:prSet>
      <dgm:spPr/>
    </dgm:pt>
    <dgm:pt modelId="{8AD70F27-92FB-4F5C-A9C7-3D8C1BECB17D}" type="pres">
      <dgm:prSet presAssocID="{4E81D46C-2438-42A0-9AD0-4F64014D6A9A}" presName="sibTrans" presStyleLbl="sibTrans2D1" presStyleIdx="0" presStyleCnt="0"/>
      <dgm:spPr/>
    </dgm:pt>
    <dgm:pt modelId="{A06A76D1-0D60-40B6-BAA4-82292C2C2854}" type="pres">
      <dgm:prSet presAssocID="{EBE676A4-AB85-4DFE-B220-052867F699AD}" presName="Composite" presStyleCnt="0"/>
      <dgm:spPr/>
    </dgm:pt>
    <dgm:pt modelId="{0ED0BE98-A12B-4906-A4CC-FDE0579031AE}" type="pres">
      <dgm:prSet presAssocID="{EBE676A4-AB85-4DFE-B220-052867F699A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688" r="30563" b="2"/>
          <a:stretch/>
        </a:blipFill>
      </dgm:spPr>
      <dgm:extLst>
        <a:ext uri="{E40237B7-FDA0-4F09-8148-C483321AD2D9}">
          <dgm14:cNvPr xmlns:dgm14="http://schemas.microsoft.com/office/drawing/2010/diagram" id="0" name="" descr="Two men in work T-shirts standing outdoors, with grass, shrubs, and trees behind, looking at folder contents held by one man"/>
        </a:ext>
      </dgm:extLst>
    </dgm:pt>
    <dgm:pt modelId="{E3F079D6-A42A-4C90-AA75-26DA34E4E52F}" type="pres">
      <dgm:prSet presAssocID="{EBE676A4-AB85-4DFE-B220-052867F699AD}" presName="Subtitle" presStyleLbl="revTx" presStyleIdx="4" presStyleCnt="6">
        <dgm:presLayoutVars>
          <dgm:chMax val="0"/>
          <dgm:bulletEnabled/>
        </dgm:presLayoutVars>
      </dgm:prSet>
      <dgm:spPr/>
    </dgm:pt>
    <dgm:pt modelId="{CB3922B0-15D2-455B-AC08-A054DBE613E2}" type="pres">
      <dgm:prSet presAssocID="{EBE676A4-AB85-4DFE-B220-052867F699AD}" presName="Description" presStyleLbl="revTx" presStyleIdx="5" presStyleCnt="6">
        <dgm:presLayoutVars>
          <dgm:bulletEnabled/>
        </dgm:presLayoutVars>
      </dgm:prSet>
      <dgm:spPr/>
    </dgm:pt>
  </dgm:ptLst>
  <dgm:cxnLst>
    <dgm:cxn modelId="{D6870006-326A-40ED-BE8F-D95A2E4D7037}" type="presOf" srcId="{D4FB4C48-2A04-4D44-A6B0-6E72ECA3FBA1}" destId="{CB3922B0-15D2-455B-AC08-A054DBE613E2}" srcOrd="0" destOrd="0" presId="urn:microsoft.com/office/officeart/2024/3/layout/verticalVisualTextBlock1"/>
    <dgm:cxn modelId="{86039B12-4736-4F0B-8374-FDDA56F63D1B}" type="presOf" srcId="{EBE676A4-AB85-4DFE-B220-052867F699AD}" destId="{E3F079D6-A42A-4C90-AA75-26DA34E4E52F}" srcOrd="0" destOrd="0" presId="urn:microsoft.com/office/officeart/2024/3/layout/verticalVisualTextBlock1"/>
    <dgm:cxn modelId="{7B8F9119-7D99-4BBE-8E5B-FD2255350992}" type="presOf" srcId="{76A18C8A-A9F5-4315-99E0-DDB9134D0661}" destId="{352C8E02-4A0F-40D6-8D80-4659308D9E2E}" srcOrd="0" destOrd="0" presId="urn:microsoft.com/office/officeart/2024/3/layout/verticalVisualTextBlock1"/>
    <dgm:cxn modelId="{1EAADE37-EB13-4773-856A-FD90A91783D7}" srcId="{EBE676A4-AB85-4DFE-B220-052867F699AD}" destId="{D4FB4C48-2A04-4D44-A6B0-6E72ECA3FBA1}" srcOrd="0" destOrd="0" parTransId="{5DB6BF93-54AB-4AC3-8EB2-38CC24FF47B1}" sibTransId="{0DF6827B-9C2C-4091-9FFE-ED4539763B6B}"/>
    <dgm:cxn modelId="{1EA4B538-CF30-4A96-BF13-8A41C5160F7F}" type="presOf" srcId="{66C3DF5C-6C38-4F18-9DE7-BBB4F35DAC2F}" destId="{9B34A02D-52B3-43A9-87F6-BF1CE16606D1}" srcOrd="0" destOrd="0" presId="urn:microsoft.com/office/officeart/2024/3/layout/verticalVisualTextBlock1"/>
    <dgm:cxn modelId="{31009B5B-E42E-4266-AFD5-BA4538D9443E}" srcId="{22C84FB6-2B6B-458D-B86C-C19E6377220B}" destId="{A54B2D1E-8A8A-4CEC-BEF6-8232673096CA}" srcOrd="0" destOrd="0" parTransId="{D9D7DEB5-3D45-4CEE-9F39-DFB17D2AADD5}" sibTransId="{F43B5440-36F4-4892-BB23-48554992AD0A}"/>
    <dgm:cxn modelId="{1CD2AE5F-19FC-47D0-A4EF-51DC393BC730}" type="presOf" srcId="{22C84FB6-2B6B-458D-B86C-C19E6377220B}" destId="{CC1B5E60-85D0-4840-89A0-0FF8CE8C9D32}" srcOrd="0" destOrd="0" presId="urn:microsoft.com/office/officeart/2024/3/layout/verticalVisualTextBlock1"/>
    <dgm:cxn modelId="{7BA46C8B-09A1-47E7-8AAD-79462359DE28}" type="presOf" srcId="{F6FFA026-00C4-458D-B678-9C66D557BE42}" destId="{EA62FF92-CF89-4E9F-A2FE-8835AC5F3C1D}" srcOrd="0" destOrd="0" presId="urn:microsoft.com/office/officeart/2024/3/layout/verticalVisualTextBlock1"/>
    <dgm:cxn modelId="{7127F29E-96FD-4221-ACC2-EC1D9CE94FD7}" type="presOf" srcId="{A54B2D1E-8A8A-4CEC-BEF6-8232673096CA}" destId="{29FC794C-685A-44F0-AC61-A019905D2999}" srcOrd="0" destOrd="0" presId="urn:microsoft.com/office/officeart/2024/3/layout/verticalVisualTextBlock1"/>
    <dgm:cxn modelId="{A4CBE2AB-B8B6-4F33-910D-32005E4FA4E6}" srcId="{A54B2D1E-8A8A-4CEC-BEF6-8232673096CA}" destId="{F6FFA026-00C4-458D-B678-9C66D557BE42}" srcOrd="0" destOrd="0" parTransId="{51F18A04-7C22-435F-93E4-0A7C71541894}" sibTransId="{D5D9B700-BEFE-4781-A5DD-ADF32ECE6B52}"/>
    <dgm:cxn modelId="{B7ACFAB4-B76C-4C8A-B0DC-AAFC3E3D3557}" srcId="{22C84FB6-2B6B-458D-B86C-C19E6377220B}" destId="{66C3DF5C-6C38-4F18-9DE7-BBB4F35DAC2F}" srcOrd="1" destOrd="0" parTransId="{13F9E96B-1F77-471D-B9BD-33A7C0FD3222}" sibTransId="{4E81D46C-2438-42A0-9AD0-4F64014D6A9A}"/>
    <dgm:cxn modelId="{B77CE3BA-6ED4-41D6-A0D6-8A5AC16806FB}" type="presOf" srcId="{F43B5440-36F4-4892-BB23-48554992AD0A}" destId="{6D73D132-5387-4818-B911-0A8F05783444}" srcOrd="0" destOrd="0" presId="urn:microsoft.com/office/officeart/2024/3/layout/verticalVisualTextBlock1"/>
    <dgm:cxn modelId="{BB1CB8DB-19DD-4648-832D-479930F0529B}" srcId="{66C3DF5C-6C38-4F18-9DE7-BBB4F35DAC2F}" destId="{76A18C8A-A9F5-4315-99E0-DDB9134D0661}" srcOrd="0" destOrd="0" parTransId="{995332AE-AA73-4A06-8B32-ACAC9D5452ED}" sibTransId="{433164A8-9589-4E2D-AE57-94022765ED12}"/>
    <dgm:cxn modelId="{2EF8ABE4-4613-4A7F-A57D-4B915A60BB77}" type="presOf" srcId="{4E81D46C-2438-42A0-9AD0-4F64014D6A9A}" destId="{8AD70F27-92FB-4F5C-A9C7-3D8C1BECB17D}" srcOrd="0" destOrd="0" presId="urn:microsoft.com/office/officeart/2024/3/layout/verticalVisualTextBlock1"/>
    <dgm:cxn modelId="{CBCCC6F9-F274-487F-8602-481FB7F55204}" srcId="{22C84FB6-2B6B-458D-B86C-C19E6377220B}" destId="{EBE676A4-AB85-4DFE-B220-052867F699AD}" srcOrd="2" destOrd="0" parTransId="{4742725C-4E3A-4F84-B08D-C2C3060F180E}" sibTransId="{56DBB71E-7315-4CB9-96D8-847C46366AD6}"/>
    <dgm:cxn modelId="{39C7F766-1D03-4951-BEC7-6EEE7A415F46}" type="presParOf" srcId="{CC1B5E60-85D0-4840-89A0-0FF8CE8C9D32}" destId="{E0B6A727-1998-416E-9130-13F2E7087E6B}" srcOrd="0" destOrd="0" presId="urn:microsoft.com/office/officeart/2024/3/layout/verticalVisualTextBlock1"/>
    <dgm:cxn modelId="{F29750B1-91CB-4F30-B698-C06350F6C5CF}" type="presParOf" srcId="{E0B6A727-1998-416E-9130-13F2E7087E6B}" destId="{0C72E656-F74A-4C28-A51C-4E0A14E31258}" srcOrd="0" destOrd="0" presId="urn:microsoft.com/office/officeart/2024/3/layout/verticalVisualTextBlock1"/>
    <dgm:cxn modelId="{4FDC9648-F33B-40EC-9C84-545EBE3525B2}" type="presParOf" srcId="{E0B6A727-1998-416E-9130-13F2E7087E6B}" destId="{29FC794C-685A-44F0-AC61-A019905D2999}" srcOrd="1" destOrd="0" presId="urn:microsoft.com/office/officeart/2024/3/layout/verticalVisualTextBlock1"/>
    <dgm:cxn modelId="{4F14A1C9-320E-41B6-8B56-F54A9063F06E}" type="presParOf" srcId="{E0B6A727-1998-416E-9130-13F2E7087E6B}" destId="{EA62FF92-CF89-4E9F-A2FE-8835AC5F3C1D}" srcOrd="2" destOrd="0" presId="urn:microsoft.com/office/officeart/2024/3/layout/verticalVisualTextBlock1"/>
    <dgm:cxn modelId="{0EC5FB98-D13C-4BD9-9254-0EE1D6F9F813}" type="presParOf" srcId="{CC1B5E60-85D0-4840-89A0-0FF8CE8C9D32}" destId="{6D73D132-5387-4818-B911-0A8F05783444}" srcOrd="1" destOrd="0" presId="urn:microsoft.com/office/officeart/2024/3/layout/verticalVisualTextBlock1"/>
    <dgm:cxn modelId="{539832C3-AC16-4054-B7F4-F86715897A41}" type="presParOf" srcId="{CC1B5E60-85D0-4840-89A0-0FF8CE8C9D32}" destId="{99BB10F9-1DA7-44AC-AE6B-10501C0F400B}" srcOrd="2" destOrd="0" presId="urn:microsoft.com/office/officeart/2024/3/layout/verticalVisualTextBlock1"/>
    <dgm:cxn modelId="{8192F72D-C302-4E2A-8D1B-986385E42A59}" type="presParOf" srcId="{99BB10F9-1DA7-44AC-AE6B-10501C0F400B}" destId="{1D79ACA4-EE75-454D-A2A7-2E44559A42C6}" srcOrd="0" destOrd="0" presId="urn:microsoft.com/office/officeart/2024/3/layout/verticalVisualTextBlock1"/>
    <dgm:cxn modelId="{38E3F780-65FC-490B-A1E1-3E6AB1532965}" type="presParOf" srcId="{99BB10F9-1DA7-44AC-AE6B-10501C0F400B}" destId="{9B34A02D-52B3-43A9-87F6-BF1CE16606D1}" srcOrd="1" destOrd="0" presId="urn:microsoft.com/office/officeart/2024/3/layout/verticalVisualTextBlock1"/>
    <dgm:cxn modelId="{7FF7D12C-0B6B-4465-BB08-FE239BB5E27F}" type="presParOf" srcId="{99BB10F9-1DA7-44AC-AE6B-10501C0F400B}" destId="{352C8E02-4A0F-40D6-8D80-4659308D9E2E}" srcOrd="2" destOrd="0" presId="urn:microsoft.com/office/officeart/2024/3/layout/verticalVisualTextBlock1"/>
    <dgm:cxn modelId="{07736C53-845D-47F6-A5F9-B7E29F4B41DA}" type="presParOf" srcId="{CC1B5E60-85D0-4840-89A0-0FF8CE8C9D32}" destId="{8AD70F27-92FB-4F5C-A9C7-3D8C1BECB17D}" srcOrd="3" destOrd="0" presId="urn:microsoft.com/office/officeart/2024/3/layout/verticalVisualTextBlock1"/>
    <dgm:cxn modelId="{863ABE90-B384-4D4F-AC53-7B703FB1AAC9}" type="presParOf" srcId="{CC1B5E60-85D0-4840-89A0-0FF8CE8C9D32}" destId="{A06A76D1-0D60-40B6-BAA4-82292C2C2854}" srcOrd="4" destOrd="0" presId="urn:microsoft.com/office/officeart/2024/3/layout/verticalVisualTextBlock1"/>
    <dgm:cxn modelId="{65C4EA0B-CF27-45C8-B3B7-25A5BCDFD237}" type="presParOf" srcId="{A06A76D1-0D60-40B6-BAA4-82292C2C2854}" destId="{0ED0BE98-A12B-4906-A4CC-FDE0579031AE}" srcOrd="0" destOrd="0" presId="urn:microsoft.com/office/officeart/2024/3/layout/verticalVisualTextBlock1"/>
    <dgm:cxn modelId="{78DB707E-71F5-4DF7-B71C-FDE8F0367F11}" type="presParOf" srcId="{A06A76D1-0D60-40B6-BAA4-82292C2C2854}" destId="{E3F079D6-A42A-4C90-AA75-26DA34E4E52F}" srcOrd="1" destOrd="0" presId="urn:microsoft.com/office/officeart/2024/3/layout/verticalVisualTextBlock1"/>
    <dgm:cxn modelId="{7699A3CE-44A9-43CD-B038-DD1C96BF62AA}" type="presParOf" srcId="{A06A76D1-0D60-40B6-BAA4-82292C2C2854}" destId="{CB3922B0-15D2-455B-AC08-A054DBE613E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51AF03-5484-451C-9612-6044466382E3}"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pt-BR"/>
        </a:p>
      </dgm:t>
    </dgm:pt>
    <dgm:pt modelId="{3C9C4351-2871-4669-B615-F830C46C6CCE}">
      <dgm:prSet/>
      <dgm:spPr/>
      <dgm:t>
        <a:bodyPr/>
        <a:lstStyle/>
        <a:p>
          <a:pPr>
            <a:lnSpc>
              <a:spcPct val="100000"/>
            </a:lnSpc>
            <a:defRPr b="1"/>
          </a:pPr>
          <a:r>
            <a:rPr lang="pt-BR"/>
            <a:t>Importance of Programming</a:t>
          </a:r>
        </a:p>
      </dgm:t>
    </dgm:pt>
    <dgm:pt modelId="{6268DE18-734C-47CF-9702-C8B436D2CE16}" type="parTrans" cxnId="{C7DEF788-8927-42C8-9C97-5CBF8B1AC516}">
      <dgm:prSet/>
      <dgm:spPr/>
      <dgm:t>
        <a:bodyPr/>
        <a:lstStyle/>
        <a:p>
          <a:endParaRPr lang="pt-BR"/>
        </a:p>
      </dgm:t>
    </dgm:pt>
    <dgm:pt modelId="{A0623867-A3EC-4311-9A4D-9847331A1ED4}" type="sibTrans" cxnId="{C7DEF788-8927-42C8-9C97-5CBF8B1AC516}">
      <dgm:prSet/>
      <dgm:spPr/>
      <dgm:t>
        <a:bodyPr/>
        <a:lstStyle/>
        <a:p>
          <a:pPr>
            <a:lnSpc>
              <a:spcPct val="100000"/>
            </a:lnSpc>
            <a:defRPr b="1"/>
          </a:pPr>
          <a:endParaRPr lang="pt-BR"/>
        </a:p>
      </dgm:t>
    </dgm:pt>
    <dgm:pt modelId="{6B74A437-870C-4C0C-BE77-956FA208FE1F}">
      <dgm:prSet/>
      <dgm:spPr/>
      <dgm:t>
        <a:bodyPr/>
        <a:lstStyle/>
        <a:p>
          <a:pPr>
            <a:lnSpc>
              <a:spcPct val="100000"/>
            </a:lnSpc>
          </a:pPr>
          <a:r>
            <a:rPr lang="pt-BR"/>
            <a:t>Programming the ESP + LoRa controllers ensures proper functionality and efficient communication between devices.</a:t>
          </a:r>
        </a:p>
      </dgm:t>
    </dgm:pt>
    <dgm:pt modelId="{F6E121A8-E995-4EC7-9D87-28A737F7B5D5}" type="parTrans" cxnId="{A2896958-EFB6-4C4A-B23B-9D2D71D65772}">
      <dgm:prSet/>
      <dgm:spPr/>
      <dgm:t>
        <a:bodyPr/>
        <a:lstStyle/>
        <a:p>
          <a:endParaRPr lang="pt-BR"/>
        </a:p>
      </dgm:t>
    </dgm:pt>
    <dgm:pt modelId="{458988C2-4989-4A58-9D39-EB5D3081C4AB}" type="sibTrans" cxnId="{A2896958-EFB6-4C4A-B23B-9D2D71D65772}">
      <dgm:prSet/>
      <dgm:spPr/>
      <dgm:t>
        <a:bodyPr/>
        <a:lstStyle/>
        <a:p>
          <a:endParaRPr lang="pt-BR"/>
        </a:p>
      </dgm:t>
    </dgm:pt>
    <dgm:pt modelId="{8DF8424D-C70B-469E-B744-4E0BC8B9AC89}">
      <dgm:prSet/>
      <dgm:spPr/>
      <dgm:t>
        <a:bodyPr/>
        <a:lstStyle/>
        <a:p>
          <a:pPr>
            <a:lnSpc>
              <a:spcPct val="100000"/>
            </a:lnSpc>
            <a:defRPr b="1"/>
          </a:pPr>
          <a:r>
            <a:rPr lang="pt-BR"/>
            <a:t>Firmware Setup</a:t>
          </a:r>
        </a:p>
      </dgm:t>
    </dgm:pt>
    <dgm:pt modelId="{F9E8425C-CCA3-4BA8-85EA-05FEB73169C7}" type="parTrans" cxnId="{C436CBB7-8BC2-4339-965A-C1BE7395778E}">
      <dgm:prSet/>
      <dgm:spPr/>
      <dgm:t>
        <a:bodyPr/>
        <a:lstStyle/>
        <a:p>
          <a:endParaRPr lang="pt-BR"/>
        </a:p>
      </dgm:t>
    </dgm:pt>
    <dgm:pt modelId="{8B1AE446-6FC4-46AF-A263-5920320F7F7D}" type="sibTrans" cxnId="{C436CBB7-8BC2-4339-965A-C1BE7395778E}">
      <dgm:prSet/>
      <dgm:spPr/>
      <dgm:t>
        <a:bodyPr/>
        <a:lstStyle/>
        <a:p>
          <a:pPr>
            <a:lnSpc>
              <a:spcPct val="100000"/>
            </a:lnSpc>
            <a:defRPr b="1"/>
          </a:pPr>
          <a:endParaRPr lang="pt-BR"/>
        </a:p>
      </dgm:t>
    </dgm:pt>
    <dgm:pt modelId="{B58F8E99-C7E0-4821-AEA5-FCBE3190BAF8}">
      <dgm:prSet/>
      <dgm:spPr/>
      <dgm:t>
        <a:bodyPr/>
        <a:lstStyle/>
        <a:p>
          <a:pPr>
            <a:lnSpc>
              <a:spcPct val="100000"/>
            </a:lnSpc>
          </a:pPr>
          <a:r>
            <a:rPr lang="pt-BR"/>
            <a:t>Setting up the firmware is crucial for data handling and system integration, enabling devices to work seamlessly.</a:t>
          </a:r>
        </a:p>
      </dgm:t>
    </dgm:pt>
    <dgm:pt modelId="{9A655CB1-B45B-481D-84D5-48AA27506427}" type="parTrans" cxnId="{38BF875D-3E8A-47E6-AEDB-DB8E1C99339A}">
      <dgm:prSet/>
      <dgm:spPr/>
      <dgm:t>
        <a:bodyPr/>
        <a:lstStyle/>
        <a:p>
          <a:endParaRPr lang="pt-BR"/>
        </a:p>
      </dgm:t>
    </dgm:pt>
    <dgm:pt modelId="{AC87274E-8008-4EAC-B8DC-2BF8EC5BEC7B}" type="sibTrans" cxnId="{38BF875D-3E8A-47E6-AEDB-DB8E1C99339A}">
      <dgm:prSet/>
      <dgm:spPr/>
      <dgm:t>
        <a:bodyPr/>
        <a:lstStyle/>
        <a:p>
          <a:endParaRPr lang="pt-BR"/>
        </a:p>
      </dgm:t>
    </dgm:pt>
    <dgm:pt modelId="{1A5B6BFF-8BC2-4AD6-A005-AA5AB02927BC}">
      <dgm:prSet/>
      <dgm:spPr/>
      <dgm:t>
        <a:bodyPr/>
        <a:lstStyle/>
        <a:p>
          <a:pPr>
            <a:lnSpc>
              <a:spcPct val="100000"/>
            </a:lnSpc>
            <a:defRPr b="1"/>
          </a:pPr>
          <a:r>
            <a:rPr lang="pt-BR"/>
            <a:t>Data Communication</a:t>
          </a:r>
        </a:p>
      </dgm:t>
    </dgm:pt>
    <dgm:pt modelId="{2E9E1AB2-7454-4B46-96DB-C2DA6D8C4378}" type="parTrans" cxnId="{849F13AE-87A8-464B-825A-63BAE28C42B4}">
      <dgm:prSet/>
      <dgm:spPr/>
      <dgm:t>
        <a:bodyPr/>
        <a:lstStyle/>
        <a:p>
          <a:endParaRPr lang="pt-BR"/>
        </a:p>
      </dgm:t>
    </dgm:pt>
    <dgm:pt modelId="{A608596D-4403-406E-BC5E-917864FA190F}" type="sibTrans" cxnId="{849F13AE-87A8-464B-825A-63BAE28C42B4}">
      <dgm:prSet/>
      <dgm:spPr/>
      <dgm:t>
        <a:bodyPr/>
        <a:lstStyle/>
        <a:p>
          <a:endParaRPr lang="pt-BR"/>
        </a:p>
      </dgm:t>
    </dgm:pt>
    <dgm:pt modelId="{E5F17B95-B520-4AB4-90D0-6D167B3F2CD8}">
      <dgm:prSet/>
      <dgm:spPr/>
      <dgm:t>
        <a:bodyPr/>
        <a:lstStyle/>
        <a:p>
          <a:pPr>
            <a:lnSpc>
              <a:spcPct val="100000"/>
            </a:lnSpc>
          </a:pPr>
          <a:r>
            <a:rPr lang="pt-BR"/>
            <a:t>Effective programming facilitates reliable data communication between the ESP and LoRa components, enhancing system performance.</a:t>
          </a:r>
        </a:p>
      </dgm:t>
    </dgm:pt>
    <dgm:pt modelId="{5B32A770-67FA-40CC-8A57-1B3E974ECF0E}" type="parTrans" cxnId="{B121278F-57DA-4986-900E-B7B2CF9A7884}">
      <dgm:prSet/>
      <dgm:spPr/>
      <dgm:t>
        <a:bodyPr/>
        <a:lstStyle/>
        <a:p>
          <a:endParaRPr lang="pt-BR"/>
        </a:p>
      </dgm:t>
    </dgm:pt>
    <dgm:pt modelId="{B92E9F75-309F-48DF-BE14-62962024F99A}" type="sibTrans" cxnId="{B121278F-57DA-4986-900E-B7B2CF9A7884}">
      <dgm:prSet/>
      <dgm:spPr/>
      <dgm:t>
        <a:bodyPr/>
        <a:lstStyle/>
        <a:p>
          <a:endParaRPr lang="pt-BR"/>
        </a:p>
      </dgm:t>
    </dgm:pt>
    <dgm:pt modelId="{83409902-ED3D-4B5A-A462-CF08B40795F7}" type="pres">
      <dgm:prSet presAssocID="{4551AF03-5484-451C-9612-6044466382E3}" presName="Root" presStyleCnt="0">
        <dgm:presLayoutVars>
          <dgm:dir/>
          <dgm:resizeHandles val="exact"/>
        </dgm:presLayoutVars>
      </dgm:prSet>
      <dgm:spPr/>
    </dgm:pt>
    <dgm:pt modelId="{89C4BDC7-25C4-4230-B9D7-9D2F89B2CA3A}" type="pres">
      <dgm:prSet presAssocID="{3C9C4351-2871-4669-B615-F830C46C6CCE}" presName="Composite" presStyleCnt="0"/>
      <dgm:spPr/>
    </dgm:pt>
    <dgm:pt modelId="{86570DC4-619B-4A48-9DE1-B22A1E7DFBEB}" type="pres">
      <dgm:prSet presAssocID="{3C9C4351-2871-4669-B615-F830C46C6CC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7707" r="26794" b="2"/>
          <a:stretch/>
        </a:blipFill>
      </dgm:spPr>
      <dgm:extLst>
        <a:ext uri="{E40237B7-FDA0-4F09-8148-C483321AD2D9}">
          <dgm14:cNvPr xmlns:dgm14="http://schemas.microsoft.com/office/drawing/2010/diagram" id="0" name="" descr="Lines of code"/>
        </a:ext>
      </dgm:extLst>
    </dgm:pt>
    <dgm:pt modelId="{A7405054-8016-4B78-B5E5-DD556C32B4DA}" type="pres">
      <dgm:prSet presAssocID="{3C9C4351-2871-4669-B615-F830C46C6CCE}" presName="Subtitle" presStyleLbl="revTx" presStyleIdx="0" presStyleCnt="6">
        <dgm:presLayoutVars>
          <dgm:chMax val="0"/>
          <dgm:bulletEnabled/>
        </dgm:presLayoutVars>
      </dgm:prSet>
      <dgm:spPr/>
    </dgm:pt>
    <dgm:pt modelId="{622CE494-4BD6-4EF4-8B12-A1CBFCFE68CF}" type="pres">
      <dgm:prSet presAssocID="{3C9C4351-2871-4669-B615-F830C46C6CCE}" presName="Description" presStyleLbl="revTx" presStyleIdx="1" presStyleCnt="6">
        <dgm:presLayoutVars>
          <dgm:bulletEnabled/>
        </dgm:presLayoutVars>
      </dgm:prSet>
      <dgm:spPr/>
    </dgm:pt>
    <dgm:pt modelId="{76AEA6C0-E0E3-48B3-A791-9D410DFA67FC}" type="pres">
      <dgm:prSet presAssocID="{A0623867-A3EC-4311-9A4D-9847331A1ED4}" presName="sibTrans" presStyleLbl="sibTrans2D1" presStyleIdx="0" presStyleCnt="0"/>
      <dgm:spPr/>
    </dgm:pt>
    <dgm:pt modelId="{A49C0E7C-0A66-4184-A7DB-D78B55B74017}" type="pres">
      <dgm:prSet presAssocID="{8DF8424D-C70B-469E-B744-4E0BC8B9AC89}" presName="Composite" presStyleCnt="0"/>
      <dgm:spPr/>
    </dgm:pt>
    <dgm:pt modelId="{59C59C61-09E1-47E5-8B78-09ADB39A5688}" type="pres">
      <dgm:prSet presAssocID="{8DF8424D-C70B-469E-B744-4E0BC8B9AC8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6995" r="14256" b="3"/>
          <a:stretch/>
        </a:blipFill>
      </dgm:spPr>
      <dgm:extLst>
        <a:ext uri="{E40237B7-FDA0-4F09-8148-C483321AD2D9}">
          <dgm14:cNvPr xmlns:dgm14="http://schemas.microsoft.com/office/drawing/2010/diagram" id="0" name="" descr="Laptop with error message and IT support"/>
        </a:ext>
      </dgm:extLst>
    </dgm:pt>
    <dgm:pt modelId="{36B3B816-0A6D-430B-82E2-0DB7989256AB}" type="pres">
      <dgm:prSet presAssocID="{8DF8424D-C70B-469E-B744-4E0BC8B9AC89}" presName="Subtitle" presStyleLbl="revTx" presStyleIdx="2" presStyleCnt="6">
        <dgm:presLayoutVars>
          <dgm:chMax val="0"/>
          <dgm:bulletEnabled/>
        </dgm:presLayoutVars>
      </dgm:prSet>
      <dgm:spPr/>
    </dgm:pt>
    <dgm:pt modelId="{8147D886-D321-400D-8212-03D27614306D}" type="pres">
      <dgm:prSet presAssocID="{8DF8424D-C70B-469E-B744-4E0BC8B9AC89}" presName="Description" presStyleLbl="revTx" presStyleIdx="3" presStyleCnt="6">
        <dgm:presLayoutVars>
          <dgm:bulletEnabled/>
        </dgm:presLayoutVars>
      </dgm:prSet>
      <dgm:spPr/>
    </dgm:pt>
    <dgm:pt modelId="{A6A303CF-7741-424C-8322-48BD9AF210A1}" type="pres">
      <dgm:prSet presAssocID="{8B1AE446-6FC4-46AF-A263-5920320F7F7D}" presName="sibTrans" presStyleLbl="sibTrans2D1" presStyleIdx="0" presStyleCnt="0"/>
      <dgm:spPr/>
    </dgm:pt>
    <dgm:pt modelId="{0FEC79D3-B23B-4443-92F7-E960C1EC56BB}" type="pres">
      <dgm:prSet presAssocID="{1A5B6BFF-8BC2-4AD6-A005-AA5AB02927BC}" presName="Composite" presStyleCnt="0"/>
      <dgm:spPr/>
    </dgm:pt>
    <dgm:pt modelId="{2FFFE365-B9E8-49EC-850D-CB70368C3E03}" type="pres">
      <dgm:prSet presAssocID="{1A5B6BFF-8BC2-4AD6-A005-AA5AB02927B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8378" r="19120" b="-3"/>
          <a:stretch/>
        </a:blipFill>
      </dgm:spPr>
      <dgm:extLst>
        <a:ext uri="{E40237B7-FDA0-4F09-8148-C483321AD2D9}">
          <dgm14:cNvPr xmlns:dgm14="http://schemas.microsoft.com/office/drawing/2010/diagram" id="0" name="" descr="File folder big data internet network cloud computing"/>
        </a:ext>
      </dgm:extLst>
    </dgm:pt>
    <dgm:pt modelId="{5ED1A913-4C9A-47A8-A3FF-9A30C01EC8FE}" type="pres">
      <dgm:prSet presAssocID="{1A5B6BFF-8BC2-4AD6-A005-AA5AB02927BC}" presName="Subtitle" presStyleLbl="revTx" presStyleIdx="4" presStyleCnt="6">
        <dgm:presLayoutVars>
          <dgm:chMax val="0"/>
          <dgm:bulletEnabled/>
        </dgm:presLayoutVars>
      </dgm:prSet>
      <dgm:spPr/>
    </dgm:pt>
    <dgm:pt modelId="{18655B1F-641D-4100-9984-EFC3536475AD}" type="pres">
      <dgm:prSet presAssocID="{1A5B6BFF-8BC2-4AD6-A005-AA5AB02927BC}" presName="Description" presStyleLbl="revTx" presStyleIdx="5" presStyleCnt="6">
        <dgm:presLayoutVars>
          <dgm:bulletEnabled/>
        </dgm:presLayoutVars>
      </dgm:prSet>
      <dgm:spPr/>
    </dgm:pt>
  </dgm:ptLst>
  <dgm:cxnLst>
    <dgm:cxn modelId="{F1722A05-2BF4-4ECD-9A52-A22BFE83ECEA}" type="presOf" srcId="{6B74A437-870C-4C0C-BE77-956FA208FE1F}" destId="{622CE494-4BD6-4EF4-8B12-A1CBFCFE68CF}" srcOrd="0" destOrd="0" presId="urn:microsoft.com/office/officeart/2024/3/layout/verticalVisualTextBlock1"/>
    <dgm:cxn modelId="{38BF875D-3E8A-47E6-AEDB-DB8E1C99339A}" srcId="{8DF8424D-C70B-469E-B744-4E0BC8B9AC89}" destId="{B58F8E99-C7E0-4821-AEA5-FCBE3190BAF8}" srcOrd="0" destOrd="0" parTransId="{9A655CB1-B45B-481D-84D5-48AA27506427}" sibTransId="{AC87274E-8008-4EAC-B8DC-2BF8EC5BEC7B}"/>
    <dgm:cxn modelId="{A2896958-EFB6-4C4A-B23B-9D2D71D65772}" srcId="{3C9C4351-2871-4669-B615-F830C46C6CCE}" destId="{6B74A437-870C-4C0C-BE77-956FA208FE1F}" srcOrd="0" destOrd="0" parTransId="{F6E121A8-E995-4EC7-9D87-28A737F7B5D5}" sibTransId="{458988C2-4989-4A58-9D39-EB5D3081C4AB}"/>
    <dgm:cxn modelId="{C7DEF788-8927-42C8-9C97-5CBF8B1AC516}" srcId="{4551AF03-5484-451C-9612-6044466382E3}" destId="{3C9C4351-2871-4669-B615-F830C46C6CCE}" srcOrd="0" destOrd="0" parTransId="{6268DE18-734C-47CF-9702-C8B436D2CE16}" sibTransId="{A0623867-A3EC-4311-9A4D-9847331A1ED4}"/>
    <dgm:cxn modelId="{B121278F-57DA-4986-900E-B7B2CF9A7884}" srcId="{1A5B6BFF-8BC2-4AD6-A005-AA5AB02927BC}" destId="{E5F17B95-B520-4AB4-90D0-6D167B3F2CD8}" srcOrd="0" destOrd="0" parTransId="{5B32A770-67FA-40CC-8A57-1B3E974ECF0E}" sibTransId="{B92E9F75-309F-48DF-BE14-62962024F99A}"/>
    <dgm:cxn modelId="{A21D68A1-8405-4EE4-A226-B9C8A1A0C25B}" type="presOf" srcId="{4551AF03-5484-451C-9612-6044466382E3}" destId="{83409902-ED3D-4B5A-A462-CF08B40795F7}" srcOrd="0" destOrd="0" presId="urn:microsoft.com/office/officeart/2024/3/layout/verticalVisualTextBlock1"/>
    <dgm:cxn modelId="{7BAF8CA5-1718-4C07-A7A4-E49F422BA317}" type="presOf" srcId="{3C9C4351-2871-4669-B615-F830C46C6CCE}" destId="{A7405054-8016-4B78-B5E5-DD556C32B4DA}" srcOrd="0" destOrd="0" presId="urn:microsoft.com/office/officeart/2024/3/layout/verticalVisualTextBlock1"/>
    <dgm:cxn modelId="{849F13AE-87A8-464B-825A-63BAE28C42B4}" srcId="{4551AF03-5484-451C-9612-6044466382E3}" destId="{1A5B6BFF-8BC2-4AD6-A005-AA5AB02927BC}" srcOrd="2" destOrd="0" parTransId="{2E9E1AB2-7454-4B46-96DB-C2DA6D8C4378}" sibTransId="{A608596D-4403-406E-BC5E-917864FA190F}"/>
    <dgm:cxn modelId="{C436CBB7-8BC2-4339-965A-C1BE7395778E}" srcId="{4551AF03-5484-451C-9612-6044466382E3}" destId="{8DF8424D-C70B-469E-B744-4E0BC8B9AC89}" srcOrd="1" destOrd="0" parTransId="{F9E8425C-CCA3-4BA8-85EA-05FEB73169C7}" sibTransId="{8B1AE446-6FC4-46AF-A263-5920320F7F7D}"/>
    <dgm:cxn modelId="{78C13AC9-94CC-45C5-9F77-39F3B2E20838}" type="presOf" srcId="{A0623867-A3EC-4311-9A4D-9847331A1ED4}" destId="{76AEA6C0-E0E3-48B3-A791-9D410DFA67FC}" srcOrd="0" destOrd="0" presId="urn:microsoft.com/office/officeart/2024/3/layout/verticalVisualTextBlock1"/>
    <dgm:cxn modelId="{BC0912D8-3EA1-427E-A6EE-C14B8DBF92D5}" type="presOf" srcId="{E5F17B95-B520-4AB4-90D0-6D167B3F2CD8}" destId="{18655B1F-641D-4100-9984-EFC3536475AD}" srcOrd="0" destOrd="0" presId="urn:microsoft.com/office/officeart/2024/3/layout/verticalVisualTextBlock1"/>
    <dgm:cxn modelId="{2021ADE4-1AAC-47F8-BB62-85B6F7A815F0}" type="presOf" srcId="{B58F8E99-C7E0-4821-AEA5-FCBE3190BAF8}" destId="{8147D886-D321-400D-8212-03D27614306D}" srcOrd="0" destOrd="0" presId="urn:microsoft.com/office/officeart/2024/3/layout/verticalVisualTextBlock1"/>
    <dgm:cxn modelId="{6CA20DE6-C69F-4DC1-BE2D-FA1C4EC2A1AF}" type="presOf" srcId="{8B1AE446-6FC4-46AF-A263-5920320F7F7D}" destId="{A6A303CF-7741-424C-8322-48BD9AF210A1}" srcOrd="0" destOrd="0" presId="urn:microsoft.com/office/officeart/2024/3/layout/verticalVisualTextBlock1"/>
    <dgm:cxn modelId="{C3D98EE8-784F-470E-B992-3207BA5766A0}" type="presOf" srcId="{1A5B6BFF-8BC2-4AD6-A005-AA5AB02927BC}" destId="{5ED1A913-4C9A-47A8-A3FF-9A30C01EC8FE}" srcOrd="0" destOrd="0" presId="urn:microsoft.com/office/officeart/2024/3/layout/verticalVisualTextBlock1"/>
    <dgm:cxn modelId="{1AE9ADFD-69E5-447E-A5C5-FC06CFD33B45}" type="presOf" srcId="{8DF8424D-C70B-469E-B744-4E0BC8B9AC89}" destId="{36B3B816-0A6D-430B-82E2-0DB7989256AB}" srcOrd="0" destOrd="0" presId="urn:microsoft.com/office/officeart/2024/3/layout/verticalVisualTextBlock1"/>
    <dgm:cxn modelId="{4A51EAC3-E90A-4BAE-89B0-FC260B1D8738}" type="presParOf" srcId="{83409902-ED3D-4B5A-A462-CF08B40795F7}" destId="{89C4BDC7-25C4-4230-B9D7-9D2F89B2CA3A}" srcOrd="0" destOrd="0" presId="urn:microsoft.com/office/officeart/2024/3/layout/verticalVisualTextBlock1"/>
    <dgm:cxn modelId="{2339C929-BEF5-4DC0-8276-014A490C7CF1}" type="presParOf" srcId="{89C4BDC7-25C4-4230-B9D7-9D2F89B2CA3A}" destId="{86570DC4-619B-4A48-9DE1-B22A1E7DFBEB}" srcOrd="0" destOrd="0" presId="urn:microsoft.com/office/officeart/2024/3/layout/verticalVisualTextBlock1"/>
    <dgm:cxn modelId="{D93681C6-600C-4E67-A8E0-D88D17D7B39B}" type="presParOf" srcId="{89C4BDC7-25C4-4230-B9D7-9D2F89B2CA3A}" destId="{A7405054-8016-4B78-B5E5-DD556C32B4DA}" srcOrd="1" destOrd="0" presId="urn:microsoft.com/office/officeart/2024/3/layout/verticalVisualTextBlock1"/>
    <dgm:cxn modelId="{D14D053D-8E47-4BE9-ABA9-EC8DE663EDF2}" type="presParOf" srcId="{89C4BDC7-25C4-4230-B9D7-9D2F89B2CA3A}" destId="{622CE494-4BD6-4EF4-8B12-A1CBFCFE68CF}" srcOrd="2" destOrd="0" presId="urn:microsoft.com/office/officeart/2024/3/layout/verticalVisualTextBlock1"/>
    <dgm:cxn modelId="{A0C1C065-23C4-4A13-A707-18D503502958}" type="presParOf" srcId="{83409902-ED3D-4B5A-A462-CF08B40795F7}" destId="{76AEA6C0-E0E3-48B3-A791-9D410DFA67FC}" srcOrd="1" destOrd="0" presId="urn:microsoft.com/office/officeart/2024/3/layout/verticalVisualTextBlock1"/>
    <dgm:cxn modelId="{E2B49E94-9F80-479C-8614-C8D28929FAC7}" type="presParOf" srcId="{83409902-ED3D-4B5A-A462-CF08B40795F7}" destId="{A49C0E7C-0A66-4184-A7DB-D78B55B74017}" srcOrd="2" destOrd="0" presId="urn:microsoft.com/office/officeart/2024/3/layout/verticalVisualTextBlock1"/>
    <dgm:cxn modelId="{3FBFF58C-91D0-48DE-A0DA-ABE39291A69B}" type="presParOf" srcId="{A49C0E7C-0A66-4184-A7DB-D78B55B74017}" destId="{59C59C61-09E1-47E5-8B78-09ADB39A5688}" srcOrd="0" destOrd="0" presId="urn:microsoft.com/office/officeart/2024/3/layout/verticalVisualTextBlock1"/>
    <dgm:cxn modelId="{39AF391C-4D24-4CC8-822E-0C23E8B896AA}" type="presParOf" srcId="{A49C0E7C-0A66-4184-A7DB-D78B55B74017}" destId="{36B3B816-0A6D-430B-82E2-0DB7989256AB}" srcOrd="1" destOrd="0" presId="urn:microsoft.com/office/officeart/2024/3/layout/verticalVisualTextBlock1"/>
    <dgm:cxn modelId="{5E5DB1AD-05DF-42E7-A7CE-7EC80B853B0E}" type="presParOf" srcId="{A49C0E7C-0A66-4184-A7DB-D78B55B74017}" destId="{8147D886-D321-400D-8212-03D27614306D}" srcOrd="2" destOrd="0" presId="urn:microsoft.com/office/officeart/2024/3/layout/verticalVisualTextBlock1"/>
    <dgm:cxn modelId="{A236F213-3A8E-410B-896E-11ADE1984F07}" type="presParOf" srcId="{83409902-ED3D-4B5A-A462-CF08B40795F7}" destId="{A6A303CF-7741-424C-8322-48BD9AF210A1}" srcOrd="3" destOrd="0" presId="urn:microsoft.com/office/officeart/2024/3/layout/verticalVisualTextBlock1"/>
    <dgm:cxn modelId="{13DE97BD-88A4-44F1-A71D-52B13BC09746}" type="presParOf" srcId="{83409902-ED3D-4B5A-A462-CF08B40795F7}" destId="{0FEC79D3-B23B-4443-92F7-E960C1EC56BB}" srcOrd="4" destOrd="0" presId="urn:microsoft.com/office/officeart/2024/3/layout/verticalVisualTextBlock1"/>
    <dgm:cxn modelId="{2625DCE6-7509-445B-934E-63F7D9B0D51A}" type="presParOf" srcId="{0FEC79D3-B23B-4443-92F7-E960C1EC56BB}" destId="{2FFFE365-B9E8-49EC-850D-CB70368C3E03}" srcOrd="0" destOrd="0" presId="urn:microsoft.com/office/officeart/2024/3/layout/verticalVisualTextBlock1"/>
    <dgm:cxn modelId="{3E3F7B37-DDC9-4D81-8469-3090AD72A842}" type="presParOf" srcId="{0FEC79D3-B23B-4443-92F7-E960C1EC56BB}" destId="{5ED1A913-4C9A-47A8-A3FF-9A30C01EC8FE}" srcOrd="1" destOrd="0" presId="urn:microsoft.com/office/officeart/2024/3/layout/verticalVisualTextBlock1"/>
    <dgm:cxn modelId="{3E22BDED-87F2-4EF3-9B37-7D5B062F5B53}" type="presParOf" srcId="{0FEC79D3-B23B-4443-92F7-E960C1EC56BB}" destId="{18655B1F-641D-4100-9984-EFC3536475A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7C6339-B350-472F-AD3C-EB8274896F6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DE96EB9-E0BA-4643-8E15-4811BBF4E380}">
      <dgm:prSet/>
      <dgm:spPr/>
      <dgm:t>
        <a:bodyPr/>
        <a:lstStyle/>
        <a:p>
          <a:pPr>
            <a:lnSpc>
              <a:spcPct val="100000"/>
            </a:lnSpc>
            <a:defRPr b="1"/>
          </a:pPr>
          <a:r>
            <a:rPr lang="en-US"/>
            <a:t>Efficient Garden Management</a:t>
          </a:r>
        </a:p>
      </dgm:t>
    </dgm:pt>
    <dgm:pt modelId="{4BF42B0C-4CB0-448C-8428-D4A917688C1D}" type="parTrans" cxnId="{81156F7A-F15B-42FE-A810-1C3759809A45}">
      <dgm:prSet/>
      <dgm:spPr/>
      <dgm:t>
        <a:bodyPr/>
        <a:lstStyle/>
        <a:p>
          <a:endParaRPr lang="en-US"/>
        </a:p>
      </dgm:t>
    </dgm:pt>
    <dgm:pt modelId="{FA69D67C-87B6-4E2D-BB3E-C08BF8FF4DA5}" type="sibTrans" cxnId="{81156F7A-F15B-42FE-A810-1C3759809A45}">
      <dgm:prSet/>
      <dgm:spPr/>
      <dgm:t>
        <a:bodyPr/>
        <a:lstStyle/>
        <a:p>
          <a:pPr>
            <a:lnSpc>
              <a:spcPct val="100000"/>
            </a:lnSpc>
            <a:defRPr b="1"/>
          </a:pPr>
          <a:endParaRPr lang="en-US"/>
        </a:p>
      </dgm:t>
    </dgm:pt>
    <dgm:pt modelId="{26770185-B02A-49D1-B38A-85F7973B7D2F}">
      <dgm:prSet/>
      <dgm:spPr/>
      <dgm:t>
        <a:bodyPr/>
        <a:lstStyle/>
        <a:p>
          <a:pPr>
            <a:lnSpc>
              <a:spcPct val="100000"/>
            </a:lnSpc>
          </a:pPr>
          <a:r>
            <a:rPr lang="en-US"/>
            <a:t>Integrating ESP, LoRa, and Raspberry Pi creates an efficient system for monitoring and controlling garden conditions.</a:t>
          </a:r>
        </a:p>
      </dgm:t>
    </dgm:pt>
    <dgm:pt modelId="{1D089299-59AC-4F23-AE67-4ACD155A1B69}" type="parTrans" cxnId="{CDB2B23A-1911-4646-A89F-C65CDA7451F3}">
      <dgm:prSet/>
      <dgm:spPr/>
      <dgm:t>
        <a:bodyPr/>
        <a:lstStyle/>
        <a:p>
          <a:endParaRPr lang="en-US"/>
        </a:p>
      </dgm:t>
    </dgm:pt>
    <dgm:pt modelId="{42FE3FBD-E532-4DAA-AEF9-08EEC79EC108}" type="sibTrans" cxnId="{CDB2B23A-1911-4646-A89F-C65CDA7451F3}">
      <dgm:prSet/>
      <dgm:spPr/>
      <dgm:t>
        <a:bodyPr/>
        <a:lstStyle/>
        <a:p>
          <a:endParaRPr lang="en-US"/>
        </a:p>
      </dgm:t>
    </dgm:pt>
    <dgm:pt modelId="{5F946BAE-5FDF-47A4-98A8-294A2DE7B3EE}">
      <dgm:prSet/>
      <dgm:spPr/>
      <dgm:t>
        <a:bodyPr/>
        <a:lstStyle/>
        <a:p>
          <a:pPr>
            <a:lnSpc>
              <a:spcPct val="100000"/>
            </a:lnSpc>
            <a:defRPr b="1"/>
          </a:pPr>
          <a:r>
            <a:rPr lang="en-US"/>
            <a:t>Optimal Plant Health</a:t>
          </a:r>
        </a:p>
      </dgm:t>
    </dgm:pt>
    <dgm:pt modelId="{10F5E69A-BDB3-4AFA-B72D-FCEBE3AD355F}" type="parTrans" cxnId="{965581AA-1A78-4FCF-805C-886ABA6A370A}">
      <dgm:prSet/>
      <dgm:spPr/>
      <dgm:t>
        <a:bodyPr/>
        <a:lstStyle/>
        <a:p>
          <a:endParaRPr lang="en-US"/>
        </a:p>
      </dgm:t>
    </dgm:pt>
    <dgm:pt modelId="{303497BA-C84E-48FC-AECC-047CF3963536}" type="sibTrans" cxnId="{965581AA-1A78-4FCF-805C-886ABA6A370A}">
      <dgm:prSet/>
      <dgm:spPr/>
      <dgm:t>
        <a:bodyPr/>
        <a:lstStyle/>
        <a:p>
          <a:pPr>
            <a:lnSpc>
              <a:spcPct val="100000"/>
            </a:lnSpc>
            <a:defRPr b="1"/>
          </a:pPr>
          <a:endParaRPr lang="en-US"/>
        </a:p>
      </dgm:t>
    </dgm:pt>
    <dgm:pt modelId="{8DB11CCC-65B7-4127-9D02-D998020E4EF4}">
      <dgm:prSet/>
      <dgm:spPr/>
      <dgm:t>
        <a:bodyPr/>
        <a:lstStyle/>
        <a:p>
          <a:pPr>
            <a:lnSpc>
              <a:spcPct val="100000"/>
            </a:lnSpc>
          </a:pPr>
          <a:r>
            <a:rPr lang="en-US"/>
            <a:t>These technologies allow gardeners to maintain optimal conditions for plant growth, enhancing health and yield.</a:t>
          </a:r>
        </a:p>
      </dgm:t>
    </dgm:pt>
    <dgm:pt modelId="{BC1500F2-B7A3-45D7-814F-FF6C9D2A12E7}" type="parTrans" cxnId="{73FFA9B6-828A-4659-AE98-0F045607845B}">
      <dgm:prSet/>
      <dgm:spPr/>
      <dgm:t>
        <a:bodyPr/>
        <a:lstStyle/>
        <a:p>
          <a:endParaRPr lang="en-US"/>
        </a:p>
      </dgm:t>
    </dgm:pt>
    <dgm:pt modelId="{BE6FE211-1CBB-4A29-AF7B-722012B9C2D3}" type="sibTrans" cxnId="{73FFA9B6-828A-4659-AE98-0F045607845B}">
      <dgm:prSet/>
      <dgm:spPr/>
      <dgm:t>
        <a:bodyPr/>
        <a:lstStyle/>
        <a:p>
          <a:endParaRPr lang="en-US"/>
        </a:p>
      </dgm:t>
    </dgm:pt>
    <dgm:pt modelId="{4367D077-B203-4CE9-83C1-A6E34021FE37}">
      <dgm:prSet/>
      <dgm:spPr/>
      <dgm:t>
        <a:bodyPr/>
        <a:lstStyle/>
        <a:p>
          <a:pPr>
            <a:lnSpc>
              <a:spcPct val="100000"/>
            </a:lnSpc>
            <a:defRPr b="1"/>
          </a:pPr>
          <a:r>
            <a:rPr lang="en-US"/>
            <a:t>Resource Minimization</a:t>
          </a:r>
        </a:p>
      </dgm:t>
    </dgm:pt>
    <dgm:pt modelId="{5AA66571-E594-40C6-8012-F33F7B638F6C}" type="parTrans" cxnId="{93E7B4CD-557E-41D6-B7A4-91E5EAB3C3F9}">
      <dgm:prSet/>
      <dgm:spPr/>
      <dgm:t>
        <a:bodyPr/>
        <a:lstStyle/>
        <a:p>
          <a:endParaRPr lang="en-US"/>
        </a:p>
      </dgm:t>
    </dgm:pt>
    <dgm:pt modelId="{5C296ADB-B937-4990-8AB1-B0D5580D34D2}" type="sibTrans" cxnId="{93E7B4CD-557E-41D6-B7A4-91E5EAB3C3F9}">
      <dgm:prSet/>
      <dgm:spPr/>
      <dgm:t>
        <a:bodyPr/>
        <a:lstStyle/>
        <a:p>
          <a:endParaRPr lang="en-US"/>
        </a:p>
      </dgm:t>
    </dgm:pt>
    <dgm:pt modelId="{A1CF1396-B681-4243-A3DD-FB8438005546}">
      <dgm:prSet/>
      <dgm:spPr/>
      <dgm:t>
        <a:bodyPr/>
        <a:lstStyle/>
        <a:p>
          <a:pPr>
            <a:lnSpc>
              <a:spcPct val="100000"/>
            </a:lnSpc>
          </a:pPr>
          <a:r>
            <a:rPr lang="en-US"/>
            <a:t>The use of these smart technologies reduces labor and resource use, making gardening more sustainable.</a:t>
          </a:r>
        </a:p>
      </dgm:t>
    </dgm:pt>
    <dgm:pt modelId="{CB5D2ED2-CB7D-49C9-BCB4-E647B0CB4998}" type="parTrans" cxnId="{2B334C0F-00B2-4FC8-BB42-5D003D175B91}">
      <dgm:prSet/>
      <dgm:spPr/>
      <dgm:t>
        <a:bodyPr/>
        <a:lstStyle/>
        <a:p>
          <a:endParaRPr lang="en-US"/>
        </a:p>
      </dgm:t>
    </dgm:pt>
    <dgm:pt modelId="{FFD91F34-3644-4137-A924-D4C4DCECB5B8}" type="sibTrans" cxnId="{2B334C0F-00B2-4FC8-BB42-5D003D175B91}">
      <dgm:prSet/>
      <dgm:spPr/>
      <dgm:t>
        <a:bodyPr/>
        <a:lstStyle/>
        <a:p>
          <a:endParaRPr lang="en-US"/>
        </a:p>
      </dgm:t>
    </dgm:pt>
    <dgm:pt modelId="{6E3A14AD-817A-4459-AA6B-5F3CC90381DB}" type="pres">
      <dgm:prSet presAssocID="{4F7C6339-B350-472F-AD3C-EB8274896F6E}" presName="Name0" presStyleCnt="0">
        <dgm:presLayoutVars>
          <dgm:dir/>
          <dgm:resizeHandles val="exact"/>
        </dgm:presLayoutVars>
      </dgm:prSet>
      <dgm:spPr/>
    </dgm:pt>
    <dgm:pt modelId="{B7BEB1B5-0AD1-48BF-9DB0-A03663D99AD6}" type="pres">
      <dgm:prSet presAssocID="{5DE96EB9-E0BA-4643-8E15-4811BBF4E380}" presName="compNode" presStyleCnt="0"/>
      <dgm:spPr/>
    </dgm:pt>
    <dgm:pt modelId="{DA4093CE-28D0-4A02-AEB4-2CDE82693D05}" type="pres">
      <dgm:prSet presAssocID="{5DE96EB9-E0BA-4643-8E15-4811BBF4E380}" presName="pictRect" presStyleLbl="revTx" presStyleIdx="0" presStyleCnt="6">
        <dgm:presLayoutVars>
          <dgm:chMax val="0"/>
          <dgm:bulletEnabled/>
        </dgm:presLayoutVars>
      </dgm:prSet>
      <dgm:spPr/>
    </dgm:pt>
    <dgm:pt modelId="{23976E2B-321A-4F95-AB77-126BDDE655B8}" type="pres">
      <dgm:prSet presAssocID="{5DE96EB9-E0BA-4643-8E15-4811BBF4E380}" presName="textRect" presStyleLbl="revTx" presStyleIdx="1" presStyleCnt="6">
        <dgm:presLayoutVars>
          <dgm:bulletEnabled/>
        </dgm:presLayoutVars>
      </dgm:prSet>
      <dgm:spPr/>
    </dgm:pt>
    <dgm:pt modelId="{B0221A5C-98DD-42AE-8861-38533ADDA50B}" type="pres">
      <dgm:prSet presAssocID="{FA69D67C-87B6-4E2D-BB3E-C08BF8FF4DA5}" presName="sibTrans" presStyleLbl="sibTrans2D1" presStyleIdx="0" presStyleCnt="0"/>
      <dgm:spPr/>
    </dgm:pt>
    <dgm:pt modelId="{1849008F-D81B-4480-A093-B28029089FF4}" type="pres">
      <dgm:prSet presAssocID="{5F946BAE-5FDF-47A4-98A8-294A2DE7B3EE}" presName="compNode" presStyleCnt="0"/>
      <dgm:spPr/>
    </dgm:pt>
    <dgm:pt modelId="{DC5B69DA-1A97-4002-A7E9-E52440EA7C70}" type="pres">
      <dgm:prSet presAssocID="{5F946BAE-5FDF-47A4-98A8-294A2DE7B3EE}" presName="pictRect" presStyleLbl="revTx" presStyleIdx="2" presStyleCnt="6">
        <dgm:presLayoutVars>
          <dgm:chMax val="0"/>
          <dgm:bulletEnabled/>
        </dgm:presLayoutVars>
      </dgm:prSet>
      <dgm:spPr/>
    </dgm:pt>
    <dgm:pt modelId="{F24D0A7E-1E46-4937-89F5-253187262C5D}" type="pres">
      <dgm:prSet presAssocID="{5F946BAE-5FDF-47A4-98A8-294A2DE7B3EE}" presName="textRect" presStyleLbl="revTx" presStyleIdx="3" presStyleCnt="6">
        <dgm:presLayoutVars>
          <dgm:bulletEnabled/>
        </dgm:presLayoutVars>
      </dgm:prSet>
      <dgm:spPr/>
    </dgm:pt>
    <dgm:pt modelId="{A02C8719-E65D-4DF3-8254-3A71021A2F7A}" type="pres">
      <dgm:prSet presAssocID="{303497BA-C84E-48FC-AECC-047CF3963536}" presName="sibTrans" presStyleLbl="sibTrans2D1" presStyleIdx="0" presStyleCnt="0"/>
      <dgm:spPr/>
    </dgm:pt>
    <dgm:pt modelId="{338EBF79-B7C7-4032-9758-B3745F40BBE2}" type="pres">
      <dgm:prSet presAssocID="{4367D077-B203-4CE9-83C1-A6E34021FE37}" presName="compNode" presStyleCnt="0"/>
      <dgm:spPr/>
    </dgm:pt>
    <dgm:pt modelId="{48FFEFE3-2127-4CF8-A40A-6B2F27CDFEAE}" type="pres">
      <dgm:prSet presAssocID="{4367D077-B203-4CE9-83C1-A6E34021FE37}" presName="pictRect" presStyleLbl="revTx" presStyleIdx="4" presStyleCnt="6">
        <dgm:presLayoutVars>
          <dgm:chMax val="0"/>
          <dgm:bulletEnabled/>
        </dgm:presLayoutVars>
      </dgm:prSet>
      <dgm:spPr/>
    </dgm:pt>
    <dgm:pt modelId="{7D3DCB4F-B3E0-4CAC-8D32-12278E13784C}" type="pres">
      <dgm:prSet presAssocID="{4367D077-B203-4CE9-83C1-A6E34021FE37}" presName="textRect" presStyleLbl="revTx" presStyleIdx="5" presStyleCnt="6">
        <dgm:presLayoutVars>
          <dgm:bulletEnabled/>
        </dgm:presLayoutVars>
      </dgm:prSet>
      <dgm:spPr/>
    </dgm:pt>
  </dgm:ptLst>
  <dgm:cxnLst>
    <dgm:cxn modelId="{A1973C0B-301F-48A6-8B46-42ADCF8BEE56}" type="presOf" srcId="{5F946BAE-5FDF-47A4-98A8-294A2DE7B3EE}" destId="{DC5B69DA-1A97-4002-A7E9-E52440EA7C70}" srcOrd="0" destOrd="0" presId="urn:microsoft.com/office/officeart/2024/3/layout/hArchList1"/>
    <dgm:cxn modelId="{2B334C0F-00B2-4FC8-BB42-5D003D175B91}" srcId="{4367D077-B203-4CE9-83C1-A6E34021FE37}" destId="{A1CF1396-B681-4243-A3DD-FB8438005546}" srcOrd="0" destOrd="0" parTransId="{CB5D2ED2-CB7D-49C9-BCB4-E647B0CB4998}" sibTransId="{FFD91F34-3644-4137-A924-D4C4DCECB5B8}"/>
    <dgm:cxn modelId="{6A8DF818-BE54-487F-AC47-7436505589DF}" type="presOf" srcId="{4367D077-B203-4CE9-83C1-A6E34021FE37}" destId="{48FFEFE3-2127-4CF8-A40A-6B2F27CDFEAE}" srcOrd="0" destOrd="0" presId="urn:microsoft.com/office/officeart/2024/3/layout/hArchList1"/>
    <dgm:cxn modelId="{5E3E5119-CD35-463B-9764-E3DFA07D03DF}" type="presOf" srcId="{4F7C6339-B350-472F-AD3C-EB8274896F6E}" destId="{6E3A14AD-817A-4459-AA6B-5F3CC90381DB}" srcOrd="0" destOrd="0" presId="urn:microsoft.com/office/officeart/2024/3/layout/hArchList1"/>
    <dgm:cxn modelId="{6BF8B522-9892-426B-BDEC-FC60398FA543}" type="presOf" srcId="{FA69D67C-87B6-4E2D-BB3E-C08BF8FF4DA5}" destId="{B0221A5C-98DD-42AE-8861-38533ADDA50B}" srcOrd="0" destOrd="0" presId="urn:microsoft.com/office/officeart/2024/3/layout/hArchList1"/>
    <dgm:cxn modelId="{4EB23F28-CB52-4D60-8193-A6C34C33A886}" type="presOf" srcId="{5DE96EB9-E0BA-4643-8E15-4811BBF4E380}" destId="{DA4093CE-28D0-4A02-AEB4-2CDE82693D05}" srcOrd="0" destOrd="0" presId="urn:microsoft.com/office/officeart/2024/3/layout/hArchList1"/>
    <dgm:cxn modelId="{CDB2B23A-1911-4646-A89F-C65CDA7451F3}" srcId="{5DE96EB9-E0BA-4643-8E15-4811BBF4E380}" destId="{26770185-B02A-49D1-B38A-85F7973B7D2F}" srcOrd="0" destOrd="0" parTransId="{1D089299-59AC-4F23-AE67-4ACD155A1B69}" sibTransId="{42FE3FBD-E532-4DAA-AEF9-08EEC79EC108}"/>
    <dgm:cxn modelId="{6C5A4363-1915-42EE-8839-D94E781238E9}" type="presOf" srcId="{26770185-B02A-49D1-B38A-85F7973B7D2F}" destId="{23976E2B-321A-4F95-AB77-126BDDE655B8}" srcOrd="0" destOrd="0" presId="urn:microsoft.com/office/officeart/2024/3/layout/hArchList1"/>
    <dgm:cxn modelId="{81156F7A-F15B-42FE-A810-1C3759809A45}" srcId="{4F7C6339-B350-472F-AD3C-EB8274896F6E}" destId="{5DE96EB9-E0BA-4643-8E15-4811BBF4E380}" srcOrd="0" destOrd="0" parTransId="{4BF42B0C-4CB0-448C-8428-D4A917688C1D}" sibTransId="{FA69D67C-87B6-4E2D-BB3E-C08BF8FF4DA5}"/>
    <dgm:cxn modelId="{80E17590-FBFA-4F9D-B2B4-AFC62BD35541}" type="presOf" srcId="{8DB11CCC-65B7-4127-9D02-D998020E4EF4}" destId="{F24D0A7E-1E46-4937-89F5-253187262C5D}" srcOrd="0" destOrd="0" presId="urn:microsoft.com/office/officeart/2024/3/layout/hArchList1"/>
    <dgm:cxn modelId="{2DA06892-3329-4787-B779-F542F835ED58}" type="presOf" srcId="{A1CF1396-B681-4243-A3DD-FB8438005546}" destId="{7D3DCB4F-B3E0-4CAC-8D32-12278E13784C}" srcOrd="0" destOrd="0" presId="urn:microsoft.com/office/officeart/2024/3/layout/hArchList1"/>
    <dgm:cxn modelId="{965581AA-1A78-4FCF-805C-886ABA6A370A}" srcId="{4F7C6339-B350-472F-AD3C-EB8274896F6E}" destId="{5F946BAE-5FDF-47A4-98A8-294A2DE7B3EE}" srcOrd="1" destOrd="0" parTransId="{10F5E69A-BDB3-4AFA-B72D-FCEBE3AD355F}" sibTransId="{303497BA-C84E-48FC-AECC-047CF3963536}"/>
    <dgm:cxn modelId="{AD352FB3-3B99-4D5B-9DC7-27FECBE975B3}" type="presOf" srcId="{303497BA-C84E-48FC-AECC-047CF3963536}" destId="{A02C8719-E65D-4DF3-8254-3A71021A2F7A}" srcOrd="0" destOrd="0" presId="urn:microsoft.com/office/officeart/2024/3/layout/hArchList1"/>
    <dgm:cxn modelId="{73FFA9B6-828A-4659-AE98-0F045607845B}" srcId="{5F946BAE-5FDF-47A4-98A8-294A2DE7B3EE}" destId="{8DB11CCC-65B7-4127-9D02-D998020E4EF4}" srcOrd="0" destOrd="0" parTransId="{BC1500F2-B7A3-45D7-814F-FF6C9D2A12E7}" sibTransId="{BE6FE211-1CBB-4A29-AF7B-722012B9C2D3}"/>
    <dgm:cxn modelId="{93E7B4CD-557E-41D6-B7A4-91E5EAB3C3F9}" srcId="{4F7C6339-B350-472F-AD3C-EB8274896F6E}" destId="{4367D077-B203-4CE9-83C1-A6E34021FE37}" srcOrd="2" destOrd="0" parTransId="{5AA66571-E594-40C6-8012-F33F7B638F6C}" sibTransId="{5C296ADB-B937-4990-8AB1-B0D5580D34D2}"/>
    <dgm:cxn modelId="{600D3C98-2E40-4529-810A-11FE27CEB021}" type="presParOf" srcId="{6E3A14AD-817A-4459-AA6B-5F3CC90381DB}" destId="{B7BEB1B5-0AD1-48BF-9DB0-A03663D99AD6}" srcOrd="0" destOrd="0" presId="urn:microsoft.com/office/officeart/2024/3/layout/hArchList1"/>
    <dgm:cxn modelId="{433F047F-76FE-4510-81EB-67715104AEB3}" type="presParOf" srcId="{B7BEB1B5-0AD1-48BF-9DB0-A03663D99AD6}" destId="{DA4093CE-28D0-4A02-AEB4-2CDE82693D05}" srcOrd="0" destOrd="0" presId="urn:microsoft.com/office/officeart/2024/3/layout/hArchList1"/>
    <dgm:cxn modelId="{5147C838-0D16-41D7-A46B-B08648F40F2C}" type="presParOf" srcId="{B7BEB1B5-0AD1-48BF-9DB0-A03663D99AD6}" destId="{23976E2B-321A-4F95-AB77-126BDDE655B8}" srcOrd="1" destOrd="0" presId="urn:microsoft.com/office/officeart/2024/3/layout/hArchList1"/>
    <dgm:cxn modelId="{D63B6655-84D4-40D0-A778-08687247855D}" type="presParOf" srcId="{6E3A14AD-817A-4459-AA6B-5F3CC90381DB}" destId="{B0221A5C-98DD-42AE-8861-38533ADDA50B}" srcOrd="1" destOrd="0" presId="urn:microsoft.com/office/officeart/2024/3/layout/hArchList1"/>
    <dgm:cxn modelId="{AAB8DA4D-C46B-478A-88AA-68009E916208}" type="presParOf" srcId="{6E3A14AD-817A-4459-AA6B-5F3CC90381DB}" destId="{1849008F-D81B-4480-A093-B28029089FF4}" srcOrd="2" destOrd="0" presId="urn:microsoft.com/office/officeart/2024/3/layout/hArchList1"/>
    <dgm:cxn modelId="{39EA03DF-7724-4741-AF4D-AFDE2EC633BF}" type="presParOf" srcId="{1849008F-D81B-4480-A093-B28029089FF4}" destId="{DC5B69DA-1A97-4002-A7E9-E52440EA7C70}" srcOrd="0" destOrd="0" presId="urn:microsoft.com/office/officeart/2024/3/layout/hArchList1"/>
    <dgm:cxn modelId="{3E0C8D02-C800-49ED-A9DC-312C62768C75}" type="presParOf" srcId="{1849008F-D81B-4480-A093-B28029089FF4}" destId="{F24D0A7E-1E46-4937-89F5-253187262C5D}" srcOrd="1" destOrd="0" presId="urn:microsoft.com/office/officeart/2024/3/layout/hArchList1"/>
    <dgm:cxn modelId="{866EB115-7BF4-4A13-BCA1-9D93A74ED29A}" type="presParOf" srcId="{6E3A14AD-817A-4459-AA6B-5F3CC90381DB}" destId="{A02C8719-E65D-4DF3-8254-3A71021A2F7A}" srcOrd="3" destOrd="0" presId="urn:microsoft.com/office/officeart/2024/3/layout/hArchList1"/>
    <dgm:cxn modelId="{B087CE54-26D9-4E54-8C21-F13F979BA989}" type="presParOf" srcId="{6E3A14AD-817A-4459-AA6B-5F3CC90381DB}" destId="{338EBF79-B7C7-4032-9758-B3745F40BBE2}" srcOrd="4" destOrd="0" presId="urn:microsoft.com/office/officeart/2024/3/layout/hArchList1"/>
    <dgm:cxn modelId="{7961668F-915F-46A5-9A97-BC6211DDAF5F}" type="presParOf" srcId="{338EBF79-B7C7-4032-9758-B3745F40BBE2}" destId="{48FFEFE3-2127-4CF8-A40A-6B2F27CDFEAE}" srcOrd="0" destOrd="0" presId="urn:microsoft.com/office/officeart/2024/3/layout/hArchList1"/>
    <dgm:cxn modelId="{E6CA43EA-64B4-43A9-84B7-F2F76DBB760B}" type="presParOf" srcId="{338EBF79-B7C7-4032-9758-B3745F40BBE2}" destId="{7D3DCB4F-B3E0-4CAC-8D32-12278E13784C}"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2E656-F74A-4C28-A51C-4E0A14E31258}">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9718" r="3533" b="2"/>
          <a:stretch/>
        </a:blipFill>
        <a:ln>
          <a:noFill/>
        </a:ln>
        <a:effectLst/>
      </dsp:spPr>
      <dsp:style>
        <a:lnRef idx="0">
          <a:scrgbClr r="0" g="0" b="0"/>
        </a:lnRef>
        <a:fillRef idx="3">
          <a:scrgbClr r="0" g="0" b="0"/>
        </a:fillRef>
        <a:effectRef idx="2">
          <a:scrgbClr r="0" g="0" b="0"/>
        </a:effectRef>
        <a:fontRef idx="minor">
          <a:schemeClr val="lt1"/>
        </a:fontRef>
      </dsp:style>
    </dsp:sp>
    <dsp:sp modelId="{29FC794C-685A-44F0-AC61-A019905D2999}">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Distinct Garden Designs</a:t>
          </a:r>
        </a:p>
      </dsp:txBody>
      <dsp:txXfrm>
        <a:off x="2034553" y="0"/>
        <a:ext cx="4155226" cy="370034"/>
      </dsp:txXfrm>
    </dsp:sp>
    <dsp:sp modelId="{EA62FF92-CF89-4E9F-A2FE-8835AC5F3C1D}">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Each garden is designed with specific plants that thrive in their unique conditions, enhancing growth and health.</a:t>
          </a:r>
        </a:p>
      </dsp:txBody>
      <dsp:txXfrm>
        <a:off x="2034553" y="370034"/>
        <a:ext cx="4155226" cy="1484518"/>
      </dsp:txXfrm>
    </dsp:sp>
    <dsp:sp modelId="{1D79ACA4-EE75-454D-A2A7-2E44559A42C6}">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0727" r="23020" b="-6"/>
          <a:stretch/>
        </a:blipFill>
        <a:ln>
          <a:noFill/>
        </a:ln>
        <a:effectLst/>
      </dsp:spPr>
      <dsp:style>
        <a:lnRef idx="0">
          <a:scrgbClr r="0" g="0" b="0"/>
        </a:lnRef>
        <a:fillRef idx="3">
          <a:scrgbClr r="0" g="0" b="0"/>
        </a:fillRef>
        <a:effectRef idx="2">
          <a:scrgbClr r="0" g="0" b="0"/>
        </a:effectRef>
        <a:fontRef idx="minor">
          <a:schemeClr val="lt1"/>
        </a:fontRef>
      </dsp:style>
    </dsp:sp>
    <dsp:sp modelId="{9B34A02D-52B3-43A9-87F6-BF1CE16606D1}">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Tailored Care and Management</a:t>
          </a:r>
        </a:p>
      </dsp:txBody>
      <dsp:txXfrm>
        <a:off x="2034553" y="2002917"/>
        <a:ext cx="4155226" cy="370034"/>
      </dsp:txXfrm>
    </dsp:sp>
    <dsp:sp modelId="{352C8E02-4A0F-40D6-8D80-4659308D9E2E}">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The segmentation of gardens allows for customized care strategies, ensuring optimal growth and resource utilization.</a:t>
          </a:r>
        </a:p>
      </dsp:txBody>
      <dsp:txXfrm>
        <a:off x="2034553" y="2372952"/>
        <a:ext cx="4155226" cy="1484518"/>
      </dsp:txXfrm>
    </dsp:sp>
    <dsp:sp modelId="{0ED0BE98-A12B-4906-A4CC-FDE0579031AE}">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688" r="30563" b="2"/>
          <a:stretch/>
        </a:blipFill>
        <a:ln>
          <a:noFill/>
        </a:ln>
        <a:effectLst/>
      </dsp:spPr>
      <dsp:style>
        <a:lnRef idx="0">
          <a:scrgbClr r="0" g="0" b="0"/>
        </a:lnRef>
        <a:fillRef idx="3">
          <a:scrgbClr r="0" g="0" b="0"/>
        </a:fillRef>
        <a:effectRef idx="2">
          <a:scrgbClr r="0" g="0" b="0"/>
        </a:effectRef>
        <a:fontRef idx="minor">
          <a:schemeClr val="lt1"/>
        </a:fontRef>
      </dsp:style>
    </dsp:sp>
    <dsp:sp modelId="{E3F079D6-A42A-4C90-AA75-26DA34E4E52F}">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Optimizing Resources</a:t>
          </a:r>
        </a:p>
      </dsp:txBody>
      <dsp:txXfrm>
        <a:off x="2034553" y="4005834"/>
        <a:ext cx="4155226" cy="370034"/>
      </dsp:txXfrm>
    </dsp:sp>
    <dsp:sp modelId="{CB3922B0-15D2-455B-AC08-A054DBE613E2}">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By managing the gardens separately, resources are optimized, leading to improved output and sustainability.</a:t>
          </a:r>
        </a:p>
      </dsp:txBody>
      <dsp:txXfrm>
        <a:off x="2034553" y="4375869"/>
        <a:ext cx="4155226" cy="14845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70DC4-619B-4A48-9DE1-B22A1E7DFBEB}">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7707" r="26794" b="2"/>
          <a:stretch/>
        </a:blipFill>
        <a:ln>
          <a:noFill/>
        </a:ln>
        <a:effectLst/>
      </dsp:spPr>
      <dsp:style>
        <a:lnRef idx="0">
          <a:scrgbClr r="0" g="0" b="0"/>
        </a:lnRef>
        <a:fillRef idx="3">
          <a:scrgbClr r="0" g="0" b="0"/>
        </a:fillRef>
        <a:effectRef idx="2">
          <a:scrgbClr r="0" g="0" b="0"/>
        </a:effectRef>
        <a:fontRef idx="minor">
          <a:schemeClr val="lt1"/>
        </a:fontRef>
      </dsp:style>
    </dsp:sp>
    <dsp:sp modelId="{A7405054-8016-4B78-B5E5-DD556C32B4DA}">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Importance of Programming</a:t>
          </a:r>
        </a:p>
      </dsp:txBody>
      <dsp:txXfrm>
        <a:off x="2034553" y="0"/>
        <a:ext cx="4155226" cy="370034"/>
      </dsp:txXfrm>
    </dsp:sp>
    <dsp:sp modelId="{622CE494-4BD6-4EF4-8B12-A1CBFCFE68CF}">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Programming the ESP + LoRa controllers ensures proper functionality and efficient communication between devices.</a:t>
          </a:r>
        </a:p>
      </dsp:txBody>
      <dsp:txXfrm>
        <a:off x="2034553" y="370034"/>
        <a:ext cx="4155226" cy="1484518"/>
      </dsp:txXfrm>
    </dsp:sp>
    <dsp:sp modelId="{59C59C61-09E1-47E5-8B78-09ADB39A5688}">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6995" r="14256" b="3"/>
          <a:stretch/>
        </a:blipFill>
        <a:ln>
          <a:noFill/>
        </a:ln>
        <a:effectLst/>
      </dsp:spPr>
      <dsp:style>
        <a:lnRef idx="0">
          <a:scrgbClr r="0" g="0" b="0"/>
        </a:lnRef>
        <a:fillRef idx="3">
          <a:scrgbClr r="0" g="0" b="0"/>
        </a:fillRef>
        <a:effectRef idx="2">
          <a:scrgbClr r="0" g="0" b="0"/>
        </a:effectRef>
        <a:fontRef idx="minor">
          <a:schemeClr val="lt1"/>
        </a:fontRef>
      </dsp:style>
    </dsp:sp>
    <dsp:sp modelId="{36B3B816-0A6D-430B-82E2-0DB7989256AB}">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Firmware Setup</a:t>
          </a:r>
        </a:p>
      </dsp:txBody>
      <dsp:txXfrm>
        <a:off x="2034553" y="2002917"/>
        <a:ext cx="4155226" cy="370034"/>
      </dsp:txXfrm>
    </dsp:sp>
    <dsp:sp modelId="{8147D886-D321-400D-8212-03D27614306D}">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Setting up the firmware is crucial for data handling and system integration, enabling devices to work seamlessly.</a:t>
          </a:r>
        </a:p>
      </dsp:txBody>
      <dsp:txXfrm>
        <a:off x="2034553" y="2372952"/>
        <a:ext cx="4155226" cy="1484518"/>
      </dsp:txXfrm>
    </dsp:sp>
    <dsp:sp modelId="{2FFFE365-B9E8-49EC-850D-CB70368C3E03}">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8378" r="19120" b="-3"/>
          <a:stretch/>
        </a:blipFill>
        <a:ln>
          <a:noFill/>
        </a:ln>
        <a:effectLst/>
      </dsp:spPr>
      <dsp:style>
        <a:lnRef idx="0">
          <a:scrgbClr r="0" g="0" b="0"/>
        </a:lnRef>
        <a:fillRef idx="3">
          <a:scrgbClr r="0" g="0" b="0"/>
        </a:fillRef>
        <a:effectRef idx="2">
          <a:scrgbClr r="0" g="0" b="0"/>
        </a:effectRef>
        <a:fontRef idx="minor">
          <a:schemeClr val="lt1"/>
        </a:fontRef>
      </dsp:style>
    </dsp:sp>
    <dsp:sp modelId="{5ED1A913-4C9A-47A8-A3FF-9A30C01EC8FE}">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t-BR" sz="1800" kern="1200"/>
            <a:t>Data Communication</a:t>
          </a:r>
        </a:p>
      </dsp:txBody>
      <dsp:txXfrm>
        <a:off x="2034553" y="4005834"/>
        <a:ext cx="4155226" cy="370034"/>
      </dsp:txXfrm>
    </dsp:sp>
    <dsp:sp modelId="{18655B1F-641D-4100-9984-EFC3536475AD}">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t-BR" sz="1400" kern="1200"/>
            <a:t>Effective programming facilitates reliable data communication between the ESP and LoRa components, enhancing system performance.</a:t>
          </a:r>
        </a:p>
      </dsp:txBody>
      <dsp:txXfrm>
        <a:off x="2034553" y="4375869"/>
        <a:ext cx="4155226" cy="14845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093CE-28D0-4A02-AEB4-2CDE82693D05}">
      <dsp:nvSpPr>
        <dsp:cNvPr id="0" name=""/>
        <dsp:cNvSpPr/>
      </dsp:nvSpPr>
      <dsp:spPr>
        <a:xfrm>
          <a:off x="0" y="0"/>
          <a:ext cx="3403282" cy="624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Efficient Garden Management</a:t>
          </a:r>
        </a:p>
      </dsp:txBody>
      <dsp:txXfrm>
        <a:off x="0" y="0"/>
        <a:ext cx="3403282" cy="624969"/>
      </dsp:txXfrm>
    </dsp:sp>
    <dsp:sp modelId="{23976E2B-321A-4F95-AB77-126BDDE655B8}">
      <dsp:nvSpPr>
        <dsp:cNvPr id="0" name=""/>
        <dsp:cNvSpPr/>
      </dsp:nvSpPr>
      <dsp:spPr>
        <a:xfrm>
          <a:off x="0" y="624969"/>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Integrating ESP, LoRa, and Raspberry Pi creates an efficient system for monitoring and controlling garden conditions.</a:t>
          </a:r>
        </a:p>
      </dsp:txBody>
      <dsp:txXfrm>
        <a:off x="0" y="624969"/>
        <a:ext cx="3403282" cy="1887445"/>
      </dsp:txXfrm>
    </dsp:sp>
    <dsp:sp modelId="{DC5B69DA-1A97-4002-A7E9-E52440EA7C70}">
      <dsp:nvSpPr>
        <dsp:cNvPr id="0" name=""/>
        <dsp:cNvSpPr/>
      </dsp:nvSpPr>
      <dsp:spPr>
        <a:xfrm>
          <a:off x="3743610" y="0"/>
          <a:ext cx="3403282" cy="624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Optimal Plant Health</a:t>
          </a:r>
        </a:p>
      </dsp:txBody>
      <dsp:txXfrm>
        <a:off x="3743610" y="0"/>
        <a:ext cx="3403282" cy="624969"/>
      </dsp:txXfrm>
    </dsp:sp>
    <dsp:sp modelId="{F24D0A7E-1E46-4937-89F5-253187262C5D}">
      <dsp:nvSpPr>
        <dsp:cNvPr id="0" name=""/>
        <dsp:cNvSpPr/>
      </dsp:nvSpPr>
      <dsp:spPr>
        <a:xfrm>
          <a:off x="3743610" y="624969"/>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These technologies allow gardeners to maintain optimal conditions for plant growth, enhancing health and yield.</a:t>
          </a:r>
        </a:p>
      </dsp:txBody>
      <dsp:txXfrm>
        <a:off x="3743610" y="624969"/>
        <a:ext cx="3403282" cy="1887445"/>
      </dsp:txXfrm>
    </dsp:sp>
    <dsp:sp modelId="{48FFEFE3-2127-4CF8-A40A-6B2F27CDFEAE}">
      <dsp:nvSpPr>
        <dsp:cNvPr id="0" name=""/>
        <dsp:cNvSpPr/>
      </dsp:nvSpPr>
      <dsp:spPr>
        <a:xfrm>
          <a:off x="7487221" y="0"/>
          <a:ext cx="3403282" cy="624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Resource Minimization</a:t>
          </a:r>
        </a:p>
      </dsp:txBody>
      <dsp:txXfrm>
        <a:off x="7487221" y="0"/>
        <a:ext cx="3403282" cy="624969"/>
      </dsp:txXfrm>
    </dsp:sp>
    <dsp:sp modelId="{7D3DCB4F-B3E0-4CAC-8D32-12278E13784C}">
      <dsp:nvSpPr>
        <dsp:cNvPr id="0" name=""/>
        <dsp:cNvSpPr/>
      </dsp:nvSpPr>
      <dsp:spPr>
        <a:xfrm>
          <a:off x="7487221" y="624969"/>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use of these smart technologies reduces labor and resource use, making gardening more sustainable.</a:t>
          </a:r>
        </a:p>
      </dsp:txBody>
      <dsp:txXfrm>
        <a:off x="7487221" y="624969"/>
        <a:ext cx="3403282" cy="188744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E402B-117E-4FBE-9107-F6C5B6C610D7}" type="datetimeFigureOut">
              <a:rPr lang="pt-BR" smtClean="0"/>
              <a:t>08/07/2025</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21C4B-3103-40C7-A0D0-D9E27DD468FA}" type="slidenum">
              <a:rPr lang="pt-BR" smtClean="0"/>
              <a:t>‹#›</a:t>
            </a:fld>
            <a:endParaRPr lang="pt-BR"/>
          </a:p>
        </p:txBody>
      </p:sp>
    </p:spTree>
    <p:extLst>
      <p:ext uri="{BB962C8B-B14F-4D97-AF65-F5344CB8AC3E}">
        <p14:creationId xmlns:p14="http://schemas.microsoft.com/office/powerpoint/2010/main" val="1769234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AI-generated content may be incorrect.
---
In this presentation, we will explore the innovative solutions of garden automation through ESP, LoRa, and Raspberry Pi technologies. Our focus will be on how these technologies can streamline garden management, ensuring efficient water usage and optimal plant care.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a:t>
            </a:fld>
            <a:endParaRPr lang="pt-BR"/>
          </a:p>
        </p:txBody>
      </p:sp>
    </p:spTree>
    <p:extLst>
      <p:ext uri="{BB962C8B-B14F-4D97-AF65-F5344CB8AC3E}">
        <p14:creationId xmlns:p14="http://schemas.microsoft.com/office/powerpoint/2010/main" val="2280198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We will cover key topics including an introduction to garden automation, the system architecture and its components, the role of sensors and controllers, communication protocols, implementation guide, and strategies for monitoring and maintenance.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a:t>
            </a:fld>
            <a:endParaRPr lang="pt-BR"/>
          </a:p>
        </p:txBody>
      </p:sp>
    </p:spTree>
    <p:extLst>
      <p:ext uri="{BB962C8B-B14F-4D97-AF65-F5344CB8AC3E}">
        <p14:creationId xmlns:p14="http://schemas.microsoft.com/office/powerpoint/2010/main" val="174640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slide focuses on the benefits of investing in garden automation. By utilizing advanced technologies, you'll achieve greater efficiency and healthier plants. Although the initial investment may seem high, the long-term savings in time and resources make it worthwhile. Additionally, the convenience of smart systems allows for remote management, offering you peace of mind and optimal performance.</a:t>
            </a:r>
          </a:p>
        </p:txBody>
      </p:sp>
      <p:sp>
        <p:nvSpPr>
          <p:cNvPr id="4" name="Slide Number Placeholder 3"/>
          <p:cNvSpPr>
            <a:spLocks noGrp="1"/>
          </p:cNvSpPr>
          <p:nvPr>
            <p:ph type="sldNum" sz="quarter" idx="5"/>
          </p:nvPr>
        </p:nvSpPr>
        <p:spPr/>
        <p:txBody>
          <a:bodyPr/>
          <a:lstStyle/>
          <a:p>
            <a:fld id="{28421C4B-3103-40C7-A0D0-D9E27DD468FA}" type="slidenum">
              <a:rPr lang="pt-BR" smtClean="0"/>
              <a:t>3</a:t>
            </a:fld>
            <a:endParaRPr lang="pt-BR"/>
          </a:p>
        </p:txBody>
      </p:sp>
    </p:spTree>
    <p:extLst>
      <p:ext uri="{BB962C8B-B14F-4D97-AF65-F5344CB8AC3E}">
        <p14:creationId xmlns:p14="http://schemas.microsoft.com/office/powerpoint/2010/main" val="231559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Garden automation utilizes technology to manage garden conditions efficiently. This section will provide an overview of what automated garden systems are and their significance in modern gardening.</a:t>
            </a:r>
          </a:p>
        </p:txBody>
      </p:sp>
      <p:sp>
        <p:nvSpPr>
          <p:cNvPr id="4" name="Slide Number Placeholder 3"/>
          <p:cNvSpPr>
            <a:spLocks noGrp="1"/>
          </p:cNvSpPr>
          <p:nvPr>
            <p:ph type="sldNum" sz="quarter" idx="5"/>
          </p:nvPr>
        </p:nvSpPr>
        <p:spPr/>
        <p:txBody>
          <a:bodyPr/>
          <a:lstStyle/>
          <a:p>
            <a:fld id="{BE4F0EB1-7E60-48AC-8156-BB0D33C86C61}" type="slidenum">
              <a:rPr lang="pt-BR" smtClean="0"/>
              <a:t>4</a:t>
            </a:fld>
            <a:endParaRPr lang="pt-BR"/>
          </a:p>
        </p:txBody>
      </p:sp>
    </p:spTree>
    <p:extLst>
      <p:ext uri="{BB962C8B-B14F-4D97-AF65-F5344CB8AC3E}">
        <p14:creationId xmlns:p14="http://schemas.microsoft.com/office/powerpoint/2010/main" val="100191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Automated garden systems use sensors and controllers to monitor and manage various aspects of garden care, including irrigation, soil moisture, and temperature. They help reduce manual labor and ensure optimal conditions for plant growth.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5</a:t>
            </a:fld>
            <a:endParaRPr lang="pt-BR"/>
          </a:p>
        </p:txBody>
      </p:sp>
    </p:spTree>
    <p:extLst>
      <p:ext uri="{BB962C8B-B14F-4D97-AF65-F5344CB8AC3E}">
        <p14:creationId xmlns:p14="http://schemas.microsoft.com/office/powerpoint/2010/main" val="3812946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Automating your garden comes with several benefits, including improved water efficiency, reduced labor costs, enhanced plant health, and the ability to remotely monitor and control your garden from anywhere.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6</a:t>
            </a:fld>
            <a:endParaRPr lang="pt-BR"/>
          </a:p>
        </p:txBody>
      </p:sp>
    </p:spTree>
    <p:extLst>
      <p:ext uri="{BB962C8B-B14F-4D97-AF65-F5344CB8AC3E}">
        <p14:creationId xmlns:p14="http://schemas.microsoft.com/office/powerpoint/2010/main" val="311267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Key components of an automated garden system include sensors for monitoring environmental conditions, controllers for executing commands, and a central processing unit like Raspberry Pi to manage the data flow.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7</a:t>
            </a:fld>
            <a:endParaRPr lang="pt-BR"/>
          </a:p>
        </p:txBody>
      </p:sp>
    </p:spTree>
    <p:extLst>
      <p:ext uri="{BB962C8B-B14F-4D97-AF65-F5344CB8AC3E}">
        <p14:creationId xmlns:p14="http://schemas.microsoft.com/office/powerpoint/2010/main" val="3574977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slide addresses the various costs associated with garden automation. Initial setup costs can be high due to the necessary technology and equipment. However, ongoing maintenance is crucial for ensuring the system remains efficient. It's important to also consider the potential savings in water and labor costs, which can help offset the initial investments over time.</a:t>
            </a:r>
          </a:p>
        </p:txBody>
      </p:sp>
      <p:sp>
        <p:nvSpPr>
          <p:cNvPr id="4" name="Slide Number Placeholder 3"/>
          <p:cNvSpPr>
            <a:spLocks noGrp="1"/>
          </p:cNvSpPr>
          <p:nvPr>
            <p:ph type="sldNum" sz="quarter" idx="5"/>
          </p:nvPr>
        </p:nvSpPr>
        <p:spPr/>
        <p:txBody>
          <a:bodyPr/>
          <a:lstStyle/>
          <a:p>
            <a:fld id="{28421C4B-3103-40C7-A0D0-D9E27DD468FA}" type="slidenum">
              <a:rPr lang="pt-BR" smtClean="0"/>
              <a:t>8</a:t>
            </a:fld>
            <a:endParaRPr lang="pt-BR"/>
          </a:p>
        </p:txBody>
      </p:sp>
    </p:spTree>
    <p:extLst>
      <p:ext uri="{BB962C8B-B14F-4D97-AF65-F5344CB8AC3E}">
        <p14:creationId xmlns:p14="http://schemas.microsoft.com/office/powerpoint/2010/main" val="2322000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section will delve into the architecture of the automated garden system, explaining how the various components interact to create a cohesive and functional system.</a:t>
            </a:r>
          </a:p>
        </p:txBody>
      </p:sp>
      <p:sp>
        <p:nvSpPr>
          <p:cNvPr id="4" name="Slide Number Placeholder 3"/>
          <p:cNvSpPr>
            <a:spLocks noGrp="1"/>
          </p:cNvSpPr>
          <p:nvPr>
            <p:ph type="sldNum" sz="quarter" idx="5"/>
          </p:nvPr>
        </p:nvSpPr>
        <p:spPr/>
        <p:txBody>
          <a:bodyPr/>
          <a:lstStyle/>
          <a:p>
            <a:fld id="{BE4F0EB1-7E60-48AC-8156-BB0D33C86C61}" type="slidenum">
              <a:rPr lang="pt-BR" smtClean="0"/>
              <a:t>9</a:t>
            </a:fld>
            <a:endParaRPr lang="pt-BR"/>
          </a:p>
        </p:txBody>
      </p:sp>
    </p:spTree>
    <p:extLst>
      <p:ext uri="{BB962C8B-B14F-4D97-AF65-F5344CB8AC3E}">
        <p14:creationId xmlns:p14="http://schemas.microsoft.com/office/powerpoint/2010/main" val="2997563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system includes two distinct gardens, each designed for specific plants and conditions. This segmentation allows for tailored care and management, optimizing resources and output.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10</a:t>
            </a:fld>
            <a:endParaRPr lang="pt-BR"/>
          </a:p>
        </p:txBody>
      </p:sp>
    </p:spTree>
    <p:extLst>
      <p:ext uri="{BB962C8B-B14F-4D97-AF65-F5344CB8AC3E}">
        <p14:creationId xmlns:p14="http://schemas.microsoft.com/office/powerpoint/2010/main" val="2543634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Water Central is a critical component that manages irrigation across the gardens. It connects to soil moisture sensors and automates watering based on real-time data to maintain optimal soil conditions.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11</a:t>
            </a:fld>
            <a:endParaRPr lang="pt-BR"/>
          </a:p>
        </p:txBody>
      </p:sp>
    </p:spTree>
    <p:extLst>
      <p:ext uri="{BB962C8B-B14F-4D97-AF65-F5344CB8AC3E}">
        <p14:creationId xmlns:p14="http://schemas.microsoft.com/office/powerpoint/2010/main" val="371228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In this slide, we highlight the importance of monitoring repository water levels to ensure that gardens do not run out of water. Implementing an alert system for low levels can greatly enhance management practices. Regular checks and strategic designs of the repositories work towards preventing shortages and maximizing water retention in the system.</a:t>
            </a:r>
          </a:p>
        </p:txBody>
      </p:sp>
      <p:sp>
        <p:nvSpPr>
          <p:cNvPr id="4" name="Slide Number Placeholder 3"/>
          <p:cNvSpPr>
            <a:spLocks noGrp="1"/>
          </p:cNvSpPr>
          <p:nvPr>
            <p:ph type="sldNum" sz="quarter" idx="5"/>
          </p:nvPr>
        </p:nvSpPr>
        <p:spPr/>
        <p:txBody>
          <a:bodyPr/>
          <a:lstStyle/>
          <a:p>
            <a:fld id="{28421C4B-3103-40C7-A0D0-D9E27DD468FA}" type="slidenum">
              <a:rPr lang="pt-BR" smtClean="0"/>
              <a:t>12</a:t>
            </a:fld>
            <a:endParaRPr lang="pt-BR"/>
          </a:p>
        </p:txBody>
      </p:sp>
    </p:spTree>
    <p:extLst>
      <p:ext uri="{BB962C8B-B14F-4D97-AF65-F5344CB8AC3E}">
        <p14:creationId xmlns:p14="http://schemas.microsoft.com/office/powerpoint/2010/main" val="1898679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Control Central, located within the house, serves as the brain of the operation. It collects data from both gardens and controls the watering systems, ensuring efficient management and quick decision-making.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13</a:t>
            </a:fld>
            <a:endParaRPr lang="pt-BR"/>
          </a:p>
        </p:txBody>
      </p:sp>
    </p:spTree>
    <p:extLst>
      <p:ext uri="{BB962C8B-B14F-4D97-AF65-F5344CB8AC3E}">
        <p14:creationId xmlns:p14="http://schemas.microsoft.com/office/powerpoint/2010/main" val="3887126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In this section, we will discuss the role of sensors and controllers, including their placement and integration into the overall system, and how they contribute to the automation process.</a:t>
            </a:r>
          </a:p>
        </p:txBody>
      </p:sp>
      <p:sp>
        <p:nvSpPr>
          <p:cNvPr id="4" name="Slide Number Placeholder 3"/>
          <p:cNvSpPr>
            <a:spLocks noGrp="1"/>
          </p:cNvSpPr>
          <p:nvPr>
            <p:ph type="sldNum" sz="quarter" idx="5"/>
          </p:nvPr>
        </p:nvSpPr>
        <p:spPr/>
        <p:txBody>
          <a:bodyPr/>
          <a:lstStyle/>
          <a:p>
            <a:fld id="{BE4F0EB1-7E60-48AC-8156-BB0D33C86C61}" type="slidenum">
              <a:rPr lang="pt-BR" smtClean="0"/>
              <a:t>14</a:t>
            </a:fld>
            <a:endParaRPr lang="pt-BR"/>
          </a:p>
        </p:txBody>
      </p:sp>
    </p:spTree>
    <p:extLst>
      <p:ext uri="{BB962C8B-B14F-4D97-AF65-F5344CB8AC3E}">
        <p14:creationId xmlns:p14="http://schemas.microsoft.com/office/powerpoint/2010/main" val="330170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Humidity sensors are strategically placed in the gardens to monitor soil moisture levels. This data is crucial for determining when to water, preventing over or under-watering.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15</a:t>
            </a:fld>
            <a:endParaRPr lang="pt-BR"/>
          </a:p>
        </p:txBody>
      </p:sp>
    </p:spTree>
    <p:extLst>
      <p:ext uri="{BB962C8B-B14F-4D97-AF65-F5344CB8AC3E}">
        <p14:creationId xmlns:p14="http://schemas.microsoft.com/office/powerpoint/2010/main" val="1791724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ESP and LoRa controllers facilitate communication between the sensors and the Control Central. Their long-range capabilities allow for effective monitoring across larger garden spaces, enhancing system reliability.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16</a:t>
            </a:fld>
            <a:endParaRPr lang="pt-BR"/>
          </a:p>
        </p:txBody>
      </p:sp>
    </p:spTree>
    <p:extLst>
      <p:ext uri="{BB962C8B-B14F-4D97-AF65-F5344CB8AC3E}">
        <p14:creationId xmlns:p14="http://schemas.microsoft.com/office/powerpoint/2010/main" val="315392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Raspberry Pi serves as the central controller, processing the data received from sensors and making decisions based on predefined conditions for effective garden management.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17</a:t>
            </a:fld>
            <a:endParaRPr lang="pt-BR"/>
          </a:p>
        </p:txBody>
      </p:sp>
    </p:spTree>
    <p:extLst>
      <p:ext uri="{BB962C8B-B14F-4D97-AF65-F5344CB8AC3E}">
        <p14:creationId xmlns:p14="http://schemas.microsoft.com/office/powerpoint/2010/main" val="631460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section will cover the communication protocols used in the automated garden system and how data flows between the components to facilitate effective management.</a:t>
            </a:r>
          </a:p>
        </p:txBody>
      </p:sp>
      <p:sp>
        <p:nvSpPr>
          <p:cNvPr id="4" name="Slide Number Placeholder 3"/>
          <p:cNvSpPr>
            <a:spLocks noGrp="1"/>
          </p:cNvSpPr>
          <p:nvPr>
            <p:ph type="sldNum" sz="quarter" idx="5"/>
          </p:nvPr>
        </p:nvSpPr>
        <p:spPr/>
        <p:txBody>
          <a:bodyPr/>
          <a:lstStyle/>
          <a:p>
            <a:fld id="{BE4F0EB1-7E60-48AC-8156-BB0D33C86C61}" type="slidenum">
              <a:rPr lang="pt-BR" smtClean="0"/>
              <a:t>18</a:t>
            </a:fld>
            <a:endParaRPr lang="pt-BR"/>
          </a:p>
        </p:txBody>
      </p:sp>
    </p:spTree>
    <p:extLst>
      <p:ext uri="{BB962C8B-B14F-4D97-AF65-F5344CB8AC3E}">
        <p14:creationId xmlns:p14="http://schemas.microsoft.com/office/powerpoint/2010/main" val="730068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ESP and LoRa communication protocols enable low-power, long-range data transmission. This efficient protocol allows the system to operate effectively even in challenging environmental conditions.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19</a:t>
            </a:fld>
            <a:endParaRPr lang="pt-BR"/>
          </a:p>
        </p:txBody>
      </p:sp>
    </p:spTree>
    <p:extLst>
      <p:ext uri="{BB962C8B-B14F-4D97-AF65-F5344CB8AC3E}">
        <p14:creationId xmlns:p14="http://schemas.microsoft.com/office/powerpoint/2010/main" val="2583564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Data from the gardens is transmitted to the Water Central and Control Central in real time. This ensures that all components are synchronized and can respond quickly to changing conditions.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20</a:t>
            </a:fld>
            <a:endParaRPr lang="pt-BR"/>
          </a:p>
        </p:txBody>
      </p:sp>
    </p:spTree>
    <p:extLst>
      <p:ext uri="{BB962C8B-B14F-4D97-AF65-F5344CB8AC3E}">
        <p14:creationId xmlns:p14="http://schemas.microsoft.com/office/powerpoint/2010/main" val="3186811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Raspberry Pi processes the incoming data, analyzes it, and executes commands for watering and other automation tasks. Its capabilities make it an ideal central hub for the system.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21</a:t>
            </a:fld>
            <a:endParaRPr lang="pt-BR"/>
          </a:p>
        </p:txBody>
      </p:sp>
    </p:spTree>
    <p:extLst>
      <p:ext uri="{BB962C8B-B14F-4D97-AF65-F5344CB8AC3E}">
        <p14:creationId xmlns:p14="http://schemas.microsoft.com/office/powerpoint/2010/main" val="1521182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In this section, we will discuss how to set up the hardware and program the components to create a fully functioning automated garden system.</a:t>
            </a:r>
          </a:p>
        </p:txBody>
      </p:sp>
      <p:sp>
        <p:nvSpPr>
          <p:cNvPr id="4" name="Slide Number Placeholder 3"/>
          <p:cNvSpPr>
            <a:spLocks noGrp="1"/>
          </p:cNvSpPr>
          <p:nvPr>
            <p:ph type="sldNum" sz="quarter" idx="5"/>
          </p:nvPr>
        </p:nvSpPr>
        <p:spPr/>
        <p:txBody>
          <a:bodyPr/>
          <a:lstStyle/>
          <a:p>
            <a:fld id="{BE4F0EB1-7E60-48AC-8156-BB0D33C86C61}" type="slidenum">
              <a:rPr lang="pt-BR" smtClean="0"/>
              <a:t>22</a:t>
            </a:fld>
            <a:endParaRPr lang="pt-BR"/>
          </a:p>
        </p:txBody>
      </p:sp>
    </p:spTree>
    <p:extLst>
      <p:ext uri="{BB962C8B-B14F-4D97-AF65-F5344CB8AC3E}">
        <p14:creationId xmlns:p14="http://schemas.microsoft.com/office/powerpoint/2010/main" val="1106708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hardware setup is crucial for the success of the automated garden system. This includes connecting sensors, controllers, and the Raspberry Pi in a way that ensures optimal performance.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23</a:t>
            </a:fld>
            <a:endParaRPr lang="pt-BR"/>
          </a:p>
        </p:txBody>
      </p:sp>
    </p:spTree>
    <p:extLst>
      <p:ext uri="{BB962C8B-B14F-4D97-AF65-F5344CB8AC3E}">
        <p14:creationId xmlns:p14="http://schemas.microsoft.com/office/powerpoint/2010/main" val="3900804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Programming the ESP + LoRa controllers is essential for their functionality. This involves setting up the firmware to facilitate communication and data handling between the system components.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24</a:t>
            </a:fld>
            <a:endParaRPr lang="pt-BR"/>
          </a:p>
        </p:txBody>
      </p:sp>
    </p:spTree>
    <p:extLst>
      <p:ext uri="{BB962C8B-B14F-4D97-AF65-F5344CB8AC3E}">
        <p14:creationId xmlns:p14="http://schemas.microsoft.com/office/powerpoint/2010/main" val="1610603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The Raspberry Pi must be configured correctly to manage the automated garden system effectively. This includes installing necessary software and setting up scripts for automated tasks.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25</a:t>
            </a:fld>
            <a:endParaRPr lang="pt-BR"/>
          </a:p>
        </p:txBody>
      </p:sp>
    </p:spTree>
    <p:extLst>
      <p:ext uri="{BB962C8B-B14F-4D97-AF65-F5344CB8AC3E}">
        <p14:creationId xmlns:p14="http://schemas.microsoft.com/office/powerpoint/2010/main" val="18783150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Regular monitoring and maintenance are key to ensuring the long-term success of an automated garden system. This section will cover best practices for keeping the system functioning optimally.</a:t>
            </a:r>
          </a:p>
        </p:txBody>
      </p:sp>
      <p:sp>
        <p:nvSpPr>
          <p:cNvPr id="4" name="Slide Number Placeholder 3"/>
          <p:cNvSpPr>
            <a:spLocks noGrp="1"/>
          </p:cNvSpPr>
          <p:nvPr>
            <p:ph type="sldNum" sz="quarter" idx="5"/>
          </p:nvPr>
        </p:nvSpPr>
        <p:spPr/>
        <p:txBody>
          <a:bodyPr/>
          <a:lstStyle/>
          <a:p>
            <a:fld id="{BE4F0EB1-7E60-48AC-8156-BB0D33C86C61}" type="slidenum">
              <a:rPr lang="pt-BR" smtClean="0"/>
              <a:t>26</a:t>
            </a:fld>
            <a:endParaRPr lang="pt-BR"/>
          </a:p>
        </p:txBody>
      </p:sp>
    </p:spTree>
    <p:extLst>
      <p:ext uri="{BB962C8B-B14F-4D97-AF65-F5344CB8AC3E}">
        <p14:creationId xmlns:p14="http://schemas.microsoft.com/office/powerpoint/2010/main" val="1184281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Real-time monitoring allows for immediate responses to changing garden conditions. Access to live data keeps the system responsive and ensures optimal plant care.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27</a:t>
            </a:fld>
            <a:endParaRPr lang="pt-BR"/>
          </a:p>
        </p:txBody>
      </p:sp>
    </p:spTree>
    <p:extLst>
      <p:ext uri="{BB962C8B-B14F-4D97-AF65-F5344CB8AC3E}">
        <p14:creationId xmlns:p14="http://schemas.microsoft.com/office/powerpoint/2010/main" val="2059787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Automated water control adjusts watering schedules based on humidity sensor readings. This ensures plants receive the right amount of water without manual intervention.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28</a:t>
            </a:fld>
            <a:endParaRPr lang="pt-BR"/>
          </a:p>
        </p:txBody>
      </p:sp>
    </p:spTree>
    <p:extLst>
      <p:ext uri="{BB962C8B-B14F-4D97-AF65-F5344CB8AC3E}">
        <p14:creationId xmlns:p14="http://schemas.microsoft.com/office/powerpoint/2010/main" val="228472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
Performing periodic maintenance and troubleshooting is essential to prevent system failures. Regular checks help identify issues early, ensuring the garden's health is maintained.
Image source: Microsoft 365 content library
</a:t>
            </a:r>
          </a:p>
        </p:txBody>
      </p:sp>
      <p:sp>
        <p:nvSpPr>
          <p:cNvPr id="4" name="Slide Number Placeholder 3"/>
          <p:cNvSpPr>
            <a:spLocks noGrp="1"/>
          </p:cNvSpPr>
          <p:nvPr>
            <p:ph type="sldNum" sz="quarter" idx="5"/>
          </p:nvPr>
        </p:nvSpPr>
        <p:spPr/>
        <p:txBody>
          <a:bodyPr/>
          <a:lstStyle/>
          <a:p>
            <a:fld id="{BE4F0EB1-7E60-48AC-8156-BB0D33C86C61}" type="slidenum">
              <a:rPr lang="pt-BR" smtClean="0"/>
              <a:t>29</a:t>
            </a:fld>
            <a:endParaRPr lang="pt-BR"/>
          </a:p>
        </p:txBody>
      </p:sp>
    </p:spTree>
    <p:extLst>
      <p:ext uri="{BB962C8B-B14F-4D97-AF65-F5344CB8AC3E}">
        <p14:creationId xmlns:p14="http://schemas.microsoft.com/office/powerpoint/2010/main" val="3102854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The integration of ESP, LoRa, and Raspberry Pi in garden automation provides an efficient and effective way to manage garden conditions. By implementing these technologies, gardeners can achieve optimal plant health while minimizing labor and resource use.</a:t>
            </a:r>
          </a:p>
        </p:txBody>
      </p:sp>
      <p:sp>
        <p:nvSpPr>
          <p:cNvPr id="4" name="Slide Number Placeholder 3"/>
          <p:cNvSpPr>
            <a:spLocks noGrp="1"/>
          </p:cNvSpPr>
          <p:nvPr>
            <p:ph type="sldNum" sz="quarter" idx="5"/>
          </p:nvPr>
        </p:nvSpPr>
        <p:spPr/>
        <p:txBody>
          <a:bodyPr/>
          <a:lstStyle/>
          <a:p>
            <a:fld id="{BE4F0EB1-7E60-48AC-8156-BB0D33C86C61}" type="slidenum">
              <a:rPr lang="pt-BR" smtClean="0"/>
              <a:t>30</a:t>
            </a:fld>
            <a:endParaRPr lang="pt-BR"/>
          </a:p>
        </p:txBody>
      </p:sp>
    </p:spTree>
    <p:extLst>
      <p:ext uri="{BB962C8B-B14F-4D97-AF65-F5344CB8AC3E}">
        <p14:creationId xmlns:p14="http://schemas.microsoft.com/office/powerpoint/2010/main" val="34210454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slide summarizes the benefits of integrating advanced technologies in garden management while highlighting the fair cost of investing in such automation. The initial investment is outweighed by the long-term savings in labor and resources, ultimately leading to healthier plants and improved yield.</a:t>
            </a:r>
          </a:p>
        </p:txBody>
      </p:sp>
      <p:sp>
        <p:nvSpPr>
          <p:cNvPr id="4" name="Slide Number Placeholder 3"/>
          <p:cNvSpPr>
            <a:spLocks noGrp="1"/>
          </p:cNvSpPr>
          <p:nvPr>
            <p:ph type="sldNum" sz="quarter" idx="5"/>
          </p:nvPr>
        </p:nvSpPr>
        <p:spPr/>
        <p:txBody>
          <a:bodyPr/>
          <a:lstStyle/>
          <a:p>
            <a:fld id="{28421C4B-3103-40C7-A0D0-D9E27DD468FA}" type="slidenum">
              <a:rPr lang="pt-BR" smtClean="0"/>
              <a:t>31</a:t>
            </a:fld>
            <a:endParaRPr lang="pt-BR"/>
          </a:p>
        </p:txBody>
      </p:sp>
    </p:spTree>
    <p:extLst>
      <p:ext uri="{BB962C8B-B14F-4D97-AF65-F5344CB8AC3E}">
        <p14:creationId xmlns:p14="http://schemas.microsoft.com/office/powerpoint/2010/main" val="1294178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This slide outlines unreal values for key materials used in garden automation. For example, the soil sensor, priced at $25, plays a critical role in monitoring moisture levels. The Raspberry Pi serves as the central processing unit at $75, while the ESP + LoRa module ensures long-range communication for $50. Additionally, a water pump costs approximately $40, and a controller system is estimated at $60.</a:t>
            </a:r>
          </a:p>
        </p:txBody>
      </p:sp>
      <p:sp>
        <p:nvSpPr>
          <p:cNvPr id="4" name="Slide Number Placeholder 3"/>
          <p:cNvSpPr>
            <a:spLocks noGrp="1"/>
          </p:cNvSpPr>
          <p:nvPr>
            <p:ph type="sldNum" sz="quarter" idx="5"/>
          </p:nvPr>
        </p:nvSpPr>
        <p:spPr/>
        <p:txBody>
          <a:bodyPr/>
          <a:lstStyle/>
          <a:p>
            <a:fld id="{28421C4B-3103-40C7-A0D0-D9E27DD468FA}" type="slidenum">
              <a:rPr lang="pt-BR" smtClean="0"/>
              <a:t>32</a:t>
            </a:fld>
            <a:endParaRPr lang="pt-BR"/>
          </a:p>
        </p:txBody>
      </p:sp>
    </p:spTree>
    <p:extLst>
      <p:ext uri="{BB962C8B-B14F-4D97-AF65-F5344CB8AC3E}">
        <p14:creationId xmlns:p14="http://schemas.microsoft.com/office/powerpoint/2010/main" val="2559724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19597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35915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2940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23481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214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28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2082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933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9621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878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4649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0933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Electric car chargers in city public park">
            <a:extLst>
              <a:ext uri="{FF2B5EF4-FFF2-40B4-BE49-F238E27FC236}">
                <a16:creationId xmlns:a16="http://schemas.microsoft.com/office/drawing/2014/main" id="{84D188AE-E935-47A0-95E2-9F64752A2689}"/>
              </a:ext>
            </a:extLst>
          </p:cNvPr>
          <p:cNvPicPr>
            <a:picLocks noChangeAspect="1"/>
          </p:cNvPicPr>
          <p:nvPr/>
        </p:nvPicPr>
        <p:blipFill>
          <a:blip r:embed="rId3"/>
          <a:srcRect t="23103" r="909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659977-343E-DD3A-6305-B6C9A5A87AB6}"/>
              </a:ext>
            </a:extLst>
          </p:cNvPr>
          <p:cNvSpPr>
            <a:spLocks noGrp="1"/>
          </p:cNvSpPr>
          <p:nvPr>
            <p:ph type="ctrTitle"/>
          </p:nvPr>
        </p:nvSpPr>
        <p:spPr>
          <a:xfrm>
            <a:off x="286506" y="603315"/>
            <a:ext cx="5649211" cy="3685731"/>
          </a:xfrm>
        </p:spPr>
        <p:txBody>
          <a:bodyPr anchor="t">
            <a:normAutofit/>
          </a:bodyPr>
          <a:lstStyle/>
          <a:p>
            <a:pPr algn="l"/>
            <a:r>
              <a:rPr lang="pt-BR" sz="4100"/>
              <a:t>Automated Garden System: Integration of ESP + LoRa &amp; Raspberry Pi for Efficient Garden Management</a:t>
            </a:r>
          </a:p>
        </p:txBody>
      </p:sp>
      <p:sp>
        <p:nvSpPr>
          <p:cNvPr id="3" name="Subtitle 2">
            <a:extLst>
              <a:ext uri="{FF2B5EF4-FFF2-40B4-BE49-F238E27FC236}">
                <a16:creationId xmlns:a16="http://schemas.microsoft.com/office/drawing/2014/main" id="{0BBE5BBF-8B58-E377-6551-E228E5DEA41E}"/>
              </a:ext>
            </a:extLst>
          </p:cNvPr>
          <p:cNvSpPr>
            <a:spLocks noGrp="1"/>
          </p:cNvSpPr>
          <p:nvPr>
            <p:ph type="subTitle" idx="1"/>
          </p:nvPr>
        </p:nvSpPr>
        <p:spPr>
          <a:xfrm>
            <a:off x="286507" y="4437176"/>
            <a:ext cx="4007587" cy="1290807"/>
          </a:xfrm>
        </p:spPr>
        <p:txBody>
          <a:bodyPr anchor="ctr">
            <a:normAutofit/>
          </a:bodyPr>
          <a:lstStyle/>
          <a:p>
            <a:pPr algn="l"/>
            <a:r>
              <a:rPr lang="pt-BR" sz="2200"/>
              <a:t>Innovative technologies for smart garden solutions</a:t>
            </a:r>
          </a:p>
        </p:txBody>
      </p:sp>
    </p:spTree>
    <p:extLst>
      <p:ext uri="{BB962C8B-B14F-4D97-AF65-F5344CB8AC3E}">
        <p14:creationId xmlns:p14="http://schemas.microsoft.com/office/powerpoint/2010/main" val="429130695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D83FAA-E420-F90A-61B7-BA166CAC7919}"/>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b="1" kern="1200" dirty="0">
                <a:solidFill>
                  <a:schemeClr val="tx1"/>
                </a:solidFill>
                <a:latin typeface="+mj-lt"/>
                <a:ea typeface="+mj-ea"/>
                <a:cs typeface="+mj-cs"/>
              </a:rPr>
              <a:t>Topics to be Discussed</a:t>
            </a:r>
          </a:p>
        </p:txBody>
      </p:sp>
      <p:sp>
        <p:nvSpPr>
          <p:cNvPr id="4" name="Content Placeholder 3">
            <a:extLst>
              <a:ext uri="{FF2B5EF4-FFF2-40B4-BE49-F238E27FC236}">
                <a16:creationId xmlns:a16="http://schemas.microsoft.com/office/drawing/2014/main" id="{3803B795-01AB-FEAB-7D5C-1E68E0A5BB7E}"/>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612647" y="2212848"/>
            <a:ext cx="4361687" cy="4096512"/>
          </a:xfrm>
        </p:spPr>
        <p:txBody>
          <a:bodyPr vert="horz" lIns="91440" tIns="45720" rIns="91440" bIns="45720" rtlCol="0">
            <a:normAutofit/>
          </a:bodyPr>
          <a:lstStyle/>
          <a:p>
            <a:r>
              <a:rPr lang="en-US" sz="1800" dirty="0"/>
              <a:t>Introduction to Garden Automation</a:t>
            </a:r>
          </a:p>
          <a:p>
            <a:r>
              <a:rPr lang="en-US" sz="1800" dirty="0"/>
              <a:t>System Architecture and Components</a:t>
            </a:r>
          </a:p>
          <a:p>
            <a:r>
              <a:rPr lang="en-US" sz="1800" dirty="0"/>
              <a:t>Sensors and Controllers</a:t>
            </a:r>
          </a:p>
          <a:p>
            <a:r>
              <a:rPr lang="en-US" sz="1800" dirty="0"/>
              <a:t>Communication Protocols and Data Flow</a:t>
            </a:r>
          </a:p>
          <a:p>
            <a:r>
              <a:rPr lang="en-US" sz="1800" dirty="0"/>
              <a:t>Implementation and Programming</a:t>
            </a:r>
          </a:p>
          <a:p>
            <a:r>
              <a:rPr lang="en-US" sz="1800" dirty="0"/>
              <a:t>Monitoring and Maintenance</a:t>
            </a:r>
          </a:p>
          <a:p>
            <a:r>
              <a:rPr lang="en-US" sz="1800" dirty="0"/>
              <a:t>Costs and Conclusion</a:t>
            </a:r>
          </a:p>
        </p:txBody>
      </p:sp>
      <p:pic>
        <p:nvPicPr>
          <p:cNvPr id="5" name="Content Placeholder 4" descr="Electric car chargers in city public park">
            <a:extLst>
              <a:ext uri="{FF2B5EF4-FFF2-40B4-BE49-F238E27FC236}">
                <a16:creationId xmlns:a16="http://schemas.microsoft.com/office/drawing/2014/main" id="{FED22234-6694-4E8B-8C23-A10AE4B1DF16}"/>
              </a:ext>
            </a:extLst>
          </p:cNvPr>
          <p:cNvPicPr>
            <a:picLocks noGrp="1" noChangeAspect="1"/>
          </p:cNvPicPr>
          <p:nvPr>
            <p:ph sz="half" idx="1"/>
          </p:nvPr>
        </p:nvPicPr>
        <p:blipFill>
          <a:blip r:embed="rId3"/>
          <a:srcRect l="19301" r="18898"/>
          <a:stretch>
            <a:fillRect/>
          </a:stretch>
        </p:blipFill>
        <p:spPr>
          <a:xfrm>
            <a:off x="5818632" y="-1"/>
            <a:ext cx="6373368" cy="6858001"/>
          </a:xfrm>
          <a:prstGeom prst="rect">
            <a:avLst/>
          </a:prstGeom>
        </p:spPr>
      </p:pic>
    </p:spTree>
    <p:extLst>
      <p:ext uri="{BB962C8B-B14F-4D97-AF65-F5344CB8AC3E}">
        <p14:creationId xmlns:p14="http://schemas.microsoft.com/office/powerpoint/2010/main" val="3093116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A34769-9097-A5F9-4313-AF9407098B44}"/>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Investing in Your Garden's Future</a:t>
            </a:r>
          </a:p>
        </p:txBody>
      </p:sp>
      <p:sp>
        <p:nvSpPr>
          <p:cNvPr id="4" name="Content Placeholder 3">
            <a:extLst>
              <a:ext uri="{FF2B5EF4-FFF2-40B4-BE49-F238E27FC236}">
                <a16:creationId xmlns:a16="http://schemas.microsoft.com/office/drawing/2014/main" id="{0A8678A3-C031-F048-B1D7-3ED160D79596}"/>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Automation technologies enhance efficiency in garden management.</a:t>
            </a:r>
          </a:p>
          <a:p>
            <a:pPr>
              <a:lnSpc>
                <a:spcPct val="110000"/>
              </a:lnSpc>
            </a:pPr>
            <a:r>
              <a:rPr lang="en-US" sz="1500"/>
              <a:t>Investing now saves time and resources in the long run.</a:t>
            </a:r>
          </a:p>
          <a:p>
            <a:pPr>
              <a:lnSpc>
                <a:spcPct val="110000"/>
              </a:lnSpc>
            </a:pPr>
            <a:r>
              <a:rPr lang="en-US" sz="1500"/>
              <a:t>Smart systems lead to healthier plants and better yields.</a:t>
            </a:r>
          </a:p>
          <a:p>
            <a:pPr>
              <a:lnSpc>
                <a:spcPct val="110000"/>
              </a:lnSpc>
            </a:pPr>
            <a:r>
              <a:rPr lang="en-US" sz="1500"/>
              <a:t>Modern garden solutions provide remote monitoring and control.</a:t>
            </a:r>
          </a:p>
          <a:p>
            <a:pPr>
              <a:lnSpc>
                <a:spcPct val="110000"/>
              </a:lnSpc>
            </a:pPr>
            <a:r>
              <a:rPr lang="en-US" sz="1500"/>
              <a:t>Quality components ensure durability and optimal performance.</a:t>
            </a:r>
          </a:p>
        </p:txBody>
      </p:sp>
      <p:pic>
        <p:nvPicPr>
          <p:cNvPr id="5" name="Content Placeholder 4" descr="Electric car chargers in city public park">
            <a:extLst>
              <a:ext uri="{FF2B5EF4-FFF2-40B4-BE49-F238E27FC236}">
                <a16:creationId xmlns:a16="http://schemas.microsoft.com/office/drawing/2014/main" id="{FB5DF42E-ABA5-46E9-B076-FE4DFF0B0AD5}"/>
              </a:ext>
            </a:extLst>
          </p:cNvPr>
          <p:cNvPicPr>
            <a:picLocks noGrp="1" noChangeAspect="1"/>
          </p:cNvPicPr>
          <p:nvPr>
            <p:ph sz="half" idx="1"/>
          </p:nvPr>
        </p:nvPicPr>
        <p:blipFill>
          <a:blip r:embed="rId3"/>
          <a:stretch>
            <a:fillRect/>
          </a:stretch>
        </p:blipFill>
        <p:spPr>
          <a:xfrm>
            <a:off x="5691261" y="1487938"/>
            <a:ext cx="5837780" cy="3882123"/>
          </a:xfrm>
          <a:prstGeom prst="rect">
            <a:avLst/>
          </a:prstGeom>
        </p:spPr>
      </p:pic>
    </p:spTree>
    <p:extLst>
      <p:ext uri="{BB962C8B-B14F-4D97-AF65-F5344CB8AC3E}">
        <p14:creationId xmlns:p14="http://schemas.microsoft.com/office/powerpoint/2010/main" val="238728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F78AC7E-F6DE-5B8F-B07A-EB0C73D68CD3}"/>
              </a:ext>
            </a:extLst>
          </p:cNvPr>
          <p:cNvSpPr>
            <a:spLocks noGrp="1"/>
          </p:cNvSpPr>
          <p:nvPr>
            <p:ph type="ctrTitle"/>
          </p:nvPr>
        </p:nvSpPr>
        <p:spPr>
          <a:xfrm>
            <a:off x="277091" y="1814321"/>
            <a:ext cx="7772400" cy="4560920"/>
          </a:xfrm>
        </p:spPr>
        <p:txBody>
          <a:bodyPr anchor="b">
            <a:normAutofit/>
          </a:bodyPr>
          <a:lstStyle/>
          <a:p>
            <a:pPr algn="l"/>
            <a:r>
              <a:rPr lang="pt-BR" sz="7400"/>
              <a:t>Introduction to Garden Automation</a:t>
            </a:r>
          </a:p>
        </p:txBody>
      </p:sp>
    </p:spTree>
    <p:extLst>
      <p:ext uri="{BB962C8B-B14F-4D97-AF65-F5344CB8AC3E}">
        <p14:creationId xmlns:p14="http://schemas.microsoft.com/office/powerpoint/2010/main" val="396235503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9A7F12-3479-47A4-C97A-697338555ED1}"/>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Overview of Automated Garden Systems</a:t>
            </a:r>
          </a:p>
        </p:txBody>
      </p:sp>
      <p:pic>
        <p:nvPicPr>
          <p:cNvPr id="5" name="Content Placeholder 4" descr="Watering Field">
            <a:extLst>
              <a:ext uri="{FF2B5EF4-FFF2-40B4-BE49-F238E27FC236}">
                <a16:creationId xmlns:a16="http://schemas.microsoft.com/office/drawing/2014/main" id="{5080B982-7C80-4DC0-9AD5-AD0B93444B9F}"/>
              </a:ext>
            </a:extLst>
          </p:cNvPr>
          <p:cNvPicPr>
            <a:picLocks noGrp="1" noChangeAspect="1"/>
          </p:cNvPicPr>
          <p:nvPr>
            <p:ph sz="half" idx="1"/>
          </p:nvPr>
        </p:nvPicPr>
        <p:blipFill>
          <a:blip r:embed="rId3"/>
          <a:srcRect l="25230" r="26976"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88A53D6B-FE06-3EB3-7D66-4A58C4BEE0C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Sensor Technology</a:t>
            </a:r>
          </a:p>
          <a:p>
            <a:pPr marL="0" lvl="1" indent="0">
              <a:buNone/>
            </a:pPr>
            <a:r>
              <a:rPr lang="en-US" sz="1400"/>
              <a:t>Automated garden systems utilize sensor technology to monitor soil moisture, temperature, and other critical variables for plant health.</a:t>
            </a:r>
          </a:p>
          <a:p>
            <a:pPr marL="0" indent="0">
              <a:spcBef>
                <a:spcPts val="2500"/>
              </a:spcBef>
              <a:buNone/>
            </a:pPr>
            <a:r>
              <a:rPr lang="en-US" sz="1400" b="1"/>
              <a:t>Irrigation Management</a:t>
            </a:r>
          </a:p>
          <a:p>
            <a:pPr marL="0" lvl="1" indent="0">
              <a:buNone/>
            </a:pPr>
            <a:r>
              <a:rPr lang="en-US" sz="1400"/>
              <a:t>These systems automatically manage irrigation schedules, ensuring plants receive the right amount of water without manual intervention.</a:t>
            </a:r>
          </a:p>
          <a:p>
            <a:pPr marL="0" indent="0">
              <a:spcBef>
                <a:spcPts val="2500"/>
              </a:spcBef>
              <a:buNone/>
            </a:pPr>
            <a:r>
              <a:rPr lang="en-US" sz="1400" b="1"/>
              <a:t>Labor Reduction</a:t>
            </a:r>
          </a:p>
          <a:p>
            <a:pPr marL="0" lvl="1" indent="0">
              <a:buNone/>
            </a:pPr>
            <a:r>
              <a:rPr lang="en-US" sz="1400"/>
              <a:t>By automating garden care, these systems significantly reduce manual labor, allowing for more efficient gardening practices.</a:t>
            </a:r>
            <a:endParaRPr lang="pt-BR" sz="1400"/>
          </a:p>
        </p:txBody>
      </p:sp>
    </p:spTree>
    <p:extLst>
      <p:ext uri="{BB962C8B-B14F-4D97-AF65-F5344CB8AC3E}">
        <p14:creationId xmlns:p14="http://schemas.microsoft.com/office/powerpoint/2010/main" val="188443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8A9E5-A42E-37C3-E7F3-D7C889E9F962}"/>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b="1" kern="1200" dirty="0">
                <a:solidFill>
                  <a:schemeClr val="tx1"/>
                </a:solidFill>
                <a:latin typeface="+mj-lt"/>
                <a:ea typeface="+mj-ea"/>
                <a:cs typeface="+mj-cs"/>
              </a:rPr>
              <a:t>Benefits of Garden Automation</a:t>
            </a:r>
          </a:p>
        </p:txBody>
      </p:sp>
      <p:pic>
        <p:nvPicPr>
          <p:cNvPr id="5" name="Content Placeholder 4" descr="Automatic sprinkler watering grass">
            <a:extLst>
              <a:ext uri="{FF2B5EF4-FFF2-40B4-BE49-F238E27FC236}">
                <a16:creationId xmlns:a16="http://schemas.microsoft.com/office/drawing/2014/main" id="{35CD1BEE-8193-4303-8032-5BCEFC9FFEEB}"/>
              </a:ext>
            </a:extLst>
          </p:cNvPr>
          <p:cNvPicPr>
            <a:picLocks noGrp="1" noChangeAspect="1"/>
          </p:cNvPicPr>
          <p:nvPr>
            <p:ph sz="half" idx="1"/>
          </p:nvPr>
        </p:nvPicPr>
        <p:blipFill>
          <a:blip r:embed="rId3"/>
          <a:srcRect t="1295" r="3" b="3"/>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BED3036D-67A9-566D-EB27-F11B031A77C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None/>
            </a:pPr>
            <a:r>
              <a:rPr lang="en-US" sz="1400" b="1"/>
              <a:t>Improved Water Efficiency</a:t>
            </a:r>
          </a:p>
          <a:p>
            <a:pPr marL="0" lvl="1" indent="0">
              <a:buNone/>
            </a:pPr>
            <a:r>
              <a:rPr lang="en-US" sz="1400"/>
              <a:t>Garden automation allows for precise watering, reducing water waste and ensuring plants receive the right amount of hydration.</a:t>
            </a:r>
          </a:p>
          <a:p>
            <a:pPr marL="0" indent="0">
              <a:spcBef>
                <a:spcPts val="2500"/>
              </a:spcBef>
              <a:buNone/>
            </a:pPr>
            <a:r>
              <a:rPr lang="en-US" sz="1400" b="1"/>
              <a:t>Reduced Labor Costs</a:t>
            </a:r>
          </a:p>
          <a:p>
            <a:pPr marL="0" lvl="1" indent="0">
              <a:buNone/>
            </a:pPr>
            <a:r>
              <a:rPr lang="en-US" sz="1400"/>
              <a:t>With automation, less manual labor is required for garden maintenance, allowing for more time-efficient gardening practices.</a:t>
            </a:r>
          </a:p>
          <a:p>
            <a:pPr marL="0" indent="0">
              <a:spcBef>
                <a:spcPts val="2500"/>
              </a:spcBef>
              <a:buNone/>
            </a:pPr>
            <a:r>
              <a:rPr lang="en-US" sz="1400" b="1"/>
              <a:t>Enhanced Plant Health</a:t>
            </a:r>
          </a:p>
          <a:p>
            <a:pPr marL="0" lvl="1" indent="0">
              <a:buNone/>
            </a:pPr>
            <a:r>
              <a:rPr lang="en-US" sz="1400"/>
              <a:t>Automated systems can monitor and adjust conditions for optimal plant growth, leading to healthier plants and better yields.</a:t>
            </a:r>
          </a:p>
          <a:p>
            <a:pPr marL="0" indent="0">
              <a:spcBef>
                <a:spcPts val="2500"/>
              </a:spcBef>
              <a:buNone/>
            </a:pPr>
            <a:r>
              <a:rPr lang="en-US" sz="1400" b="1"/>
              <a:t>Remote Monitoring and Control</a:t>
            </a:r>
          </a:p>
          <a:p>
            <a:pPr marL="0" lvl="1" indent="0">
              <a:buNone/>
            </a:pPr>
            <a:r>
              <a:rPr lang="en-US" sz="1400"/>
              <a:t>Garden automation allows you to monitor and control your garden from anywhere using smart devices, enhancing convenience.</a:t>
            </a:r>
            <a:endParaRPr lang="pt-BR" sz="1400"/>
          </a:p>
        </p:txBody>
      </p:sp>
    </p:spTree>
    <p:extLst>
      <p:ext uri="{BB962C8B-B14F-4D97-AF65-F5344CB8AC3E}">
        <p14:creationId xmlns:p14="http://schemas.microsoft.com/office/powerpoint/2010/main" val="1265850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8EF10-CED5-8FAB-0A6F-3E6860B558EC}"/>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Components Involved in Garden Automation</a:t>
            </a:r>
          </a:p>
        </p:txBody>
      </p:sp>
      <p:sp>
        <p:nvSpPr>
          <p:cNvPr id="4" name="Content Placeholder 3">
            <a:extLst>
              <a:ext uri="{FF2B5EF4-FFF2-40B4-BE49-F238E27FC236}">
                <a16:creationId xmlns:a16="http://schemas.microsoft.com/office/drawing/2014/main" id="{63870270-9B66-FD97-CC03-1D5EAB43A55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Environmental Sensors</a:t>
            </a:r>
          </a:p>
          <a:p>
            <a:pPr marL="0" lvl="1" indent="0">
              <a:buNone/>
            </a:pPr>
            <a:r>
              <a:rPr lang="en-US" sz="1400"/>
              <a:t>Sensors are used to monitor environmental conditions such as soil moisture, temperature, and humidity, ensuring optimal plant growth.</a:t>
            </a:r>
          </a:p>
          <a:p>
            <a:pPr marL="0" indent="0">
              <a:spcBef>
                <a:spcPts val="2500"/>
              </a:spcBef>
              <a:buNone/>
            </a:pPr>
            <a:r>
              <a:rPr lang="en-US" sz="1400" b="1"/>
              <a:t>Controllers</a:t>
            </a:r>
          </a:p>
          <a:p>
            <a:pPr marL="0" lvl="1" indent="0">
              <a:buNone/>
            </a:pPr>
            <a:r>
              <a:rPr lang="en-US" sz="1400"/>
              <a:t>Controllers execute commands based on data received from sensors, allowing automated irrigation and lighting systems to function effectively.</a:t>
            </a:r>
          </a:p>
          <a:p>
            <a:pPr marL="0" indent="0">
              <a:spcBef>
                <a:spcPts val="2500"/>
              </a:spcBef>
              <a:buNone/>
            </a:pPr>
            <a:r>
              <a:rPr lang="en-US" sz="1400" b="1"/>
              <a:t>Central Processing Unit</a:t>
            </a:r>
          </a:p>
          <a:p>
            <a:pPr marL="0" lvl="1" indent="0">
              <a:buNone/>
            </a:pPr>
            <a:r>
              <a:rPr lang="en-US" sz="1400"/>
              <a:t>A central processing unit, such as Raspberry Pi, manages data flow and integrates various components of the automated garden system.</a:t>
            </a:r>
            <a:endParaRPr lang="pt-BR" sz="1400"/>
          </a:p>
        </p:txBody>
      </p:sp>
      <p:pic>
        <p:nvPicPr>
          <p:cNvPr id="5" name="Content Placeholder 4" descr="Home learning do it yourself electronic parts.">
            <a:extLst>
              <a:ext uri="{FF2B5EF4-FFF2-40B4-BE49-F238E27FC236}">
                <a16:creationId xmlns:a16="http://schemas.microsoft.com/office/drawing/2014/main" id="{A069ABB5-EF63-4102-AED1-C51770DC6A1D}"/>
              </a:ext>
            </a:extLst>
          </p:cNvPr>
          <p:cNvPicPr>
            <a:picLocks noGrp="1" noChangeAspect="1"/>
          </p:cNvPicPr>
          <p:nvPr>
            <p:ph sz="half" idx="1"/>
          </p:nvPr>
        </p:nvPicPr>
        <p:blipFill>
          <a:blip r:embed="rId3"/>
          <a:srcRect l="32512" r="20317"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797401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FC6E76-2A05-4C1D-0F56-12CF05F341A2}"/>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Costs of Garden Automation</a:t>
            </a:r>
          </a:p>
        </p:txBody>
      </p:sp>
      <p:sp>
        <p:nvSpPr>
          <p:cNvPr id="4" name="Content Placeholder 3">
            <a:extLst>
              <a:ext uri="{FF2B5EF4-FFF2-40B4-BE49-F238E27FC236}">
                <a16:creationId xmlns:a16="http://schemas.microsoft.com/office/drawing/2014/main" id="{BA72F1A6-FFB5-ABDE-F8D0-1648327893C0}"/>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Initial Setup Costs can be significant due to equipment and technology.</a:t>
            </a:r>
          </a:p>
          <a:p>
            <a:pPr>
              <a:lnSpc>
                <a:spcPct val="110000"/>
              </a:lnSpc>
            </a:pPr>
            <a:r>
              <a:rPr lang="en-US" sz="1500"/>
              <a:t>Ongoing Maintenance expenses ensure system efficiency and reliability.</a:t>
            </a:r>
          </a:p>
          <a:p>
            <a:pPr>
              <a:lnSpc>
                <a:spcPct val="110000"/>
              </a:lnSpc>
            </a:pPr>
            <a:r>
              <a:rPr lang="en-US" sz="1500"/>
              <a:t>Potential Savings in water and labor costs over time can offset investments.</a:t>
            </a:r>
          </a:p>
          <a:p>
            <a:pPr>
              <a:lnSpc>
                <a:spcPct val="110000"/>
              </a:lnSpc>
            </a:pPr>
            <a:r>
              <a:rPr lang="en-US" sz="1500"/>
              <a:t>Investment in quality sensors leads to better long-term performance.</a:t>
            </a:r>
          </a:p>
          <a:p>
            <a:pPr>
              <a:lnSpc>
                <a:spcPct val="110000"/>
              </a:lnSpc>
            </a:pPr>
            <a:r>
              <a:rPr lang="en-US" sz="1500"/>
              <a:t>Consideration of energy costs for running automated systems is essential.</a:t>
            </a:r>
          </a:p>
        </p:txBody>
      </p:sp>
      <p:pic>
        <p:nvPicPr>
          <p:cNvPr id="5" name="Content Placeholder 4" descr="Electric car chargers in city public park">
            <a:extLst>
              <a:ext uri="{FF2B5EF4-FFF2-40B4-BE49-F238E27FC236}">
                <a16:creationId xmlns:a16="http://schemas.microsoft.com/office/drawing/2014/main" id="{CEA1DC0B-0FDF-4934-86B7-286B960BC175}"/>
              </a:ext>
            </a:extLst>
          </p:cNvPr>
          <p:cNvPicPr>
            <a:picLocks noGrp="1" noChangeAspect="1"/>
          </p:cNvPicPr>
          <p:nvPr>
            <p:ph sz="half" idx="1"/>
          </p:nvPr>
        </p:nvPicPr>
        <p:blipFill>
          <a:blip r:embed="rId3"/>
          <a:stretch>
            <a:fillRect/>
          </a:stretch>
        </p:blipFill>
        <p:spPr>
          <a:xfrm>
            <a:off x="5691261" y="1487938"/>
            <a:ext cx="5837780" cy="3882123"/>
          </a:xfrm>
          <a:prstGeom prst="rect">
            <a:avLst/>
          </a:prstGeom>
        </p:spPr>
      </p:pic>
    </p:spTree>
    <p:extLst>
      <p:ext uri="{BB962C8B-B14F-4D97-AF65-F5344CB8AC3E}">
        <p14:creationId xmlns:p14="http://schemas.microsoft.com/office/powerpoint/2010/main" val="269962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4D3432A-571A-1C32-D778-EC94C091A401}"/>
              </a:ext>
            </a:extLst>
          </p:cNvPr>
          <p:cNvSpPr>
            <a:spLocks noGrp="1"/>
          </p:cNvSpPr>
          <p:nvPr>
            <p:ph type="ctrTitle"/>
          </p:nvPr>
        </p:nvSpPr>
        <p:spPr>
          <a:xfrm>
            <a:off x="277091" y="1814321"/>
            <a:ext cx="7772400" cy="4560920"/>
          </a:xfrm>
        </p:spPr>
        <p:txBody>
          <a:bodyPr anchor="b">
            <a:normAutofit/>
          </a:bodyPr>
          <a:lstStyle/>
          <a:p>
            <a:pPr algn="l"/>
            <a:r>
              <a:rPr lang="pt-BR" sz="7400"/>
              <a:t>System Architecture and Components</a:t>
            </a:r>
          </a:p>
        </p:txBody>
      </p:sp>
    </p:spTree>
    <p:extLst>
      <p:ext uri="{BB962C8B-B14F-4D97-AF65-F5344CB8AC3E}">
        <p14:creationId xmlns:p14="http://schemas.microsoft.com/office/powerpoint/2010/main" val="4699132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52547C-CF7F-7919-3571-6EB4012F6564}"/>
              </a:ext>
            </a:extLst>
          </p:cNvPr>
          <p:cNvSpPr>
            <a:spLocks noGrp="1"/>
          </p:cNvSpPr>
          <p:nvPr>
            <p:ph type="title"/>
          </p:nvPr>
        </p:nvSpPr>
        <p:spPr>
          <a:xfrm>
            <a:off x="614679" y="548639"/>
            <a:ext cx="3977640" cy="5719640"/>
          </a:xfrm>
        </p:spPr>
        <p:txBody>
          <a:bodyPr anchor="t">
            <a:normAutofit/>
          </a:bodyPr>
          <a:lstStyle/>
          <a:p>
            <a:r>
              <a:rPr lang="pt-BR"/>
              <a:t>Description of the Two Gardens</a:t>
            </a:r>
          </a:p>
        </p:txBody>
      </p:sp>
      <p:graphicFrame>
        <p:nvGraphicFramePr>
          <p:cNvPr id="4" name="Content Placeholder 4">
            <a:extLst>
              <a:ext uri="{FF2B5EF4-FFF2-40B4-BE49-F238E27FC236}">
                <a16:creationId xmlns:a16="http://schemas.microsoft.com/office/drawing/2014/main" id="{4162139B-4AF4-4860-9034-725C9D767AA6}"/>
              </a:ext>
            </a:extLst>
          </p:cNvPr>
          <p:cNvGraphicFramePr>
            <a:graphicFrameLocks noGrp="1"/>
          </p:cNvGraphicFramePr>
          <p:nvPr>
            <p:ph idx="1"/>
            <p:extLst>
              <p:ext uri="{D42A27DB-BD31-4B8C-83A1-F6EECF244321}">
                <p14:modId xmlns:p14="http://schemas.microsoft.com/office/powerpoint/2010/main" val="234473495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956791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C589D9-CDFC-3342-B812-E391A47D759D}"/>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Water Central Setup and Functionality</a:t>
            </a:r>
          </a:p>
        </p:txBody>
      </p:sp>
      <p:sp>
        <p:nvSpPr>
          <p:cNvPr id="4" name="Content Placeholder 3">
            <a:extLst>
              <a:ext uri="{FF2B5EF4-FFF2-40B4-BE49-F238E27FC236}">
                <a16:creationId xmlns:a16="http://schemas.microsoft.com/office/drawing/2014/main" id="{7487C933-E6E9-A4F5-CB08-C59366DFA02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Irrigation Management</a:t>
            </a:r>
          </a:p>
          <a:p>
            <a:pPr marL="0" lvl="1" indent="0">
              <a:buNone/>
            </a:pPr>
            <a:r>
              <a:rPr lang="en-US" sz="1400"/>
              <a:t>The Water Central effectively manages irrigation across gardens, ensuring optimal water usage and plant health.</a:t>
            </a:r>
          </a:p>
          <a:p>
            <a:pPr marL="0" indent="0">
              <a:spcBef>
                <a:spcPts val="2500"/>
              </a:spcBef>
              <a:buNone/>
            </a:pPr>
            <a:r>
              <a:rPr lang="en-US" sz="1400" b="1"/>
              <a:t>Soil Moisture Sensors</a:t>
            </a:r>
          </a:p>
          <a:p>
            <a:pPr marL="0" lvl="1" indent="0">
              <a:buNone/>
            </a:pPr>
            <a:r>
              <a:rPr lang="en-US" sz="1400"/>
              <a:t>Connected soil moisture sensors provide real-time data to the Water Central, enabling precise control of watering schedules.</a:t>
            </a:r>
          </a:p>
          <a:p>
            <a:pPr marL="0" indent="0">
              <a:spcBef>
                <a:spcPts val="2500"/>
              </a:spcBef>
              <a:buNone/>
            </a:pPr>
            <a:r>
              <a:rPr lang="en-US" sz="1400" b="1"/>
              <a:t>Automated Watering</a:t>
            </a:r>
          </a:p>
          <a:p>
            <a:pPr marL="0" lvl="1" indent="0">
              <a:buNone/>
            </a:pPr>
            <a:r>
              <a:rPr lang="en-US" sz="1400"/>
              <a:t>The automation feature of the Water Central waters the gardens based on real-time soil moisture levels, reducing wastage.</a:t>
            </a:r>
            <a:endParaRPr lang="pt-BR" sz="1400"/>
          </a:p>
        </p:txBody>
      </p:sp>
      <p:pic>
        <p:nvPicPr>
          <p:cNvPr id="5" name="Content Placeholder 4" descr="Ground view of backyard sprinkler">
            <a:extLst>
              <a:ext uri="{FF2B5EF4-FFF2-40B4-BE49-F238E27FC236}">
                <a16:creationId xmlns:a16="http://schemas.microsoft.com/office/drawing/2014/main" id="{23C17E8F-A378-4C24-92B3-108CED7411B4}"/>
              </a:ext>
            </a:extLst>
          </p:cNvPr>
          <p:cNvPicPr>
            <a:picLocks noGrp="1" noChangeAspect="1"/>
          </p:cNvPicPr>
          <p:nvPr>
            <p:ph sz="half" idx="1"/>
          </p:nvPr>
        </p:nvPicPr>
        <p:blipFill>
          <a:blip r:embed="rId3"/>
          <a:srcRect l="10959" r="4187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9801707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49F89D-9848-8F76-B3EE-74848798A5D7}"/>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Repository Levels for Optimal Water Management</a:t>
            </a:r>
          </a:p>
        </p:txBody>
      </p:sp>
      <p:sp>
        <p:nvSpPr>
          <p:cNvPr id="4" name="Content Placeholder 3">
            <a:extLst>
              <a:ext uri="{FF2B5EF4-FFF2-40B4-BE49-F238E27FC236}">
                <a16:creationId xmlns:a16="http://schemas.microsoft.com/office/drawing/2014/main" id="{DAB13960-8B67-B6B3-23C7-0B063C0C38CD}"/>
              </a:ext>
            </a:extLst>
          </p:cNvPr>
          <p:cNvSpPr>
            <a:spLocks noGrp="1"/>
          </p:cNvSpPr>
          <p:nvPr>
            <p:ph sz="half" idx="2"/>
          </p:nvPr>
        </p:nvSpPr>
        <p:spPr>
          <a:xfrm>
            <a:off x="612647" y="2212848"/>
            <a:ext cx="4361687" cy="4096512"/>
          </a:xfrm>
        </p:spPr>
        <p:txBody>
          <a:bodyPr vert="horz" lIns="91440" tIns="45720" rIns="91440" bIns="45720" rtlCol="0">
            <a:normAutofit/>
          </a:bodyPr>
          <a:lstStyle/>
          <a:p>
            <a:r>
              <a:rPr lang="en-US" sz="1800"/>
              <a:t>Monitoring water levels ensures consistent availability.</a:t>
            </a:r>
          </a:p>
          <a:p>
            <a:r>
              <a:rPr lang="en-US" sz="1800"/>
              <a:t>Implementing alerts for low water levels enhances management.</a:t>
            </a:r>
          </a:p>
          <a:p>
            <a:r>
              <a:rPr lang="en-US" sz="1800"/>
              <a:t>Regular checks on repositories prevent water shortages.</a:t>
            </a:r>
          </a:p>
          <a:p>
            <a:r>
              <a:rPr lang="en-US" sz="1800"/>
              <a:t>Integration with automation allows for timely replenishment.</a:t>
            </a:r>
          </a:p>
          <a:p>
            <a:r>
              <a:rPr lang="en-US" sz="1800"/>
              <a:t>Strategic design of repositories maximizes water retention.</a:t>
            </a:r>
          </a:p>
        </p:txBody>
      </p:sp>
      <p:pic>
        <p:nvPicPr>
          <p:cNvPr id="5" name="Content Placeholder 4" descr="An abandoned building on Lake Eildon in Australia.">
            <a:extLst>
              <a:ext uri="{FF2B5EF4-FFF2-40B4-BE49-F238E27FC236}">
                <a16:creationId xmlns:a16="http://schemas.microsoft.com/office/drawing/2014/main" id="{95FD98A0-6CDA-4114-A0F7-5771EAA0AFD0}"/>
              </a:ext>
            </a:extLst>
          </p:cNvPr>
          <p:cNvPicPr>
            <a:picLocks noGrp="1" noChangeAspect="1"/>
          </p:cNvPicPr>
          <p:nvPr>
            <p:ph sz="half" idx="1"/>
          </p:nvPr>
        </p:nvPicPr>
        <p:blipFill>
          <a:blip r:embed="rId3"/>
          <a:srcRect l="30191" r="7775" b="-2"/>
          <a:stretch>
            <a:fillRect/>
          </a:stretch>
        </p:blipFill>
        <p:spPr>
          <a:xfrm>
            <a:off x="5818632" y="-1"/>
            <a:ext cx="6373368" cy="6858001"/>
          </a:xfrm>
          <a:prstGeom prst="rect">
            <a:avLst/>
          </a:prstGeom>
        </p:spPr>
      </p:pic>
    </p:spTree>
    <p:extLst>
      <p:ext uri="{BB962C8B-B14F-4D97-AF65-F5344CB8AC3E}">
        <p14:creationId xmlns:p14="http://schemas.microsoft.com/office/powerpoint/2010/main" val="137370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930CFA-44D3-6CC7-CE41-37A7720C0FC6}"/>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Control Central in the House</a:t>
            </a:r>
          </a:p>
        </p:txBody>
      </p:sp>
      <p:sp>
        <p:nvSpPr>
          <p:cNvPr id="4" name="Content Placeholder 3">
            <a:extLst>
              <a:ext uri="{FF2B5EF4-FFF2-40B4-BE49-F238E27FC236}">
                <a16:creationId xmlns:a16="http://schemas.microsoft.com/office/drawing/2014/main" id="{7481AE76-06AB-18E8-9959-AF05AA4934F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Centralized Control System</a:t>
            </a:r>
          </a:p>
          <a:p>
            <a:pPr marL="0" lvl="1" indent="0">
              <a:buNone/>
            </a:pPr>
            <a:r>
              <a:rPr lang="en-US" sz="1400"/>
              <a:t>The Control Central acts as the brain of the house, integrating various systems for efficient management.</a:t>
            </a:r>
          </a:p>
          <a:p>
            <a:pPr marL="0" indent="0">
              <a:spcBef>
                <a:spcPts val="2500"/>
              </a:spcBef>
              <a:buNone/>
            </a:pPr>
            <a:r>
              <a:rPr lang="en-US" sz="1400" b="1"/>
              <a:t>Data Collection</a:t>
            </a:r>
          </a:p>
          <a:p>
            <a:pPr marL="0" lvl="1" indent="0">
              <a:buNone/>
            </a:pPr>
            <a:r>
              <a:rPr lang="en-US" sz="1400"/>
              <a:t>It collects data from gardens, allowing for informed decision-making and resource management.</a:t>
            </a:r>
          </a:p>
          <a:p>
            <a:pPr marL="0" indent="0">
              <a:spcBef>
                <a:spcPts val="2500"/>
              </a:spcBef>
              <a:buNone/>
            </a:pPr>
            <a:r>
              <a:rPr lang="en-US" sz="1400" b="1"/>
              <a:t>Irrigation Management</a:t>
            </a:r>
          </a:p>
          <a:p>
            <a:pPr marL="0" lvl="1" indent="0">
              <a:buNone/>
            </a:pPr>
            <a:r>
              <a:rPr lang="en-US" sz="1400"/>
              <a:t>The system efficiently controls watering systems, ensuring gardens receive the right amount of water.</a:t>
            </a:r>
            <a:endParaRPr lang="pt-BR" sz="1400"/>
          </a:p>
        </p:txBody>
      </p:sp>
      <p:pic>
        <p:nvPicPr>
          <p:cNvPr id="5" name="Content Placeholder 4" descr="Smart home automation mobile phone application internet technology">
            <a:extLst>
              <a:ext uri="{FF2B5EF4-FFF2-40B4-BE49-F238E27FC236}">
                <a16:creationId xmlns:a16="http://schemas.microsoft.com/office/drawing/2014/main" id="{A1A66013-461C-4B11-A8E4-CBDE6AE567F8}"/>
              </a:ext>
            </a:extLst>
          </p:cNvPr>
          <p:cNvPicPr>
            <a:picLocks noGrp="1" noChangeAspect="1"/>
          </p:cNvPicPr>
          <p:nvPr>
            <p:ph sz="half" idx="1"/>
          </p:nvPr>
        </p:nvPicPr>
        <p:blipFill>
          <a:blip r:embed="rId3"/>
          <a:srcRect l="35319" r="1751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485458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54F12E8-75BA-4CA8-D54A-CBD3E4E766BC}"/>
              </a:ext>
            </a:extLst>
          </p:cNvPr>
          <p:cNvSpPr>
            <a:spLocks noGrp="1"/>
          </p:cNvSpPr>
          <p:nvPr>
            <p:ph type="ctrTitle"/>
          </p:nvPr>
        </p:nvSpPr>
        <p:spPr>
          <a:xfrm>
            <a:off x="277091" y="1814321"/>
            <a:ext cx="7772400" cy="4560920"/>
          </a:xfrm>
        </p:spPr>
        <p:txBody>
          <a:bodyPr anchor="b">
            <a:normAutofit/>
          </a:bodyPr>
          <a:lstStyle/>
          <a:p>
            <a:pPr algn="l"/>
            <a:r>
              <a:rPr lang="pt-BR" sz="7400"/>
              <a:t>Sensors and Controllers</a:t>
            </a:r>
          </a:p>
        </p:txBody>
      </p:sp>
    </p:spTree>
    <p:extLst>
      <p:ext uri="{BB962C8B-B14F-4D97-AF65-F5344CB8AC3E}">
        <p14:creationId xmlns:p14="http://schemas.microsoft.com/office/powerpoint/2010/main" val="118064895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8A271-A4F6-CAB9-A52E-F7430944C370}"/>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Placement and Function of Humidity Sensors</a:t>
            </a:r>
          </a:p>
        </p:txBody>
      </p:sp>
      <p:sp>
        <p:nvSpPr>
          <p:cNvPr id="4" name="Content Placeholder 3">
            <a:extLst>
              <a:ext uri="{FF2B5EF4-FFF2-40B4-BE49-F238E27FC236}">
                <a16:creationId xmlns:a16="http://schemas.microsoft.com/office/drawing/2014/main" id="{66C207B9-94EA-B9C9-0263-644A15FAF27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Strategic Sensor Placement</a:t>
            </a:r>
          </a:p>
          <a:p>
            <a:pPr marL="0" lvl="1" indent="0">
              <a:buNone/>
            </a:pPr>
            <a:r>
              <a:rPr lang="en-US" sz="1400"/>
              <a:t>Humidity sensors are strategically placed throughout the garden to ensure accurate monitoring of soil moisture levels.</a:t>
            </a:r>
          </a:p>
          <a:p>
            <a:pPr marL="0" indent="0">
              <a:spcBef>
                <a:spcPts val="2500"/>
              </a:spcBef>
              <a:buNone/>
            </a:pPr>
            <a:r>
              <a:rPr lang="en-US" sz="1400" b="1"/>
              <a:t>Monitoring Soil Moisture</a:t>
            </a:r>
          </a:p>
          <a:p>
            <a:pPr marL="0" lvl="1" indent="0">
              <a:buNone/>
            </a:pPr>
            <a:r>
              <a:rPr lang="en-US" sz="1400"/>
              <a:t>These sensors effectively monitor soil moisture, providing essential data for optimal watering practices.</a:t>
            </a:r>
          </a:p>
          <a:p>
            <a:pPr marL="0" indent="0">
              <a:spcBef>
                <a:spcPts val="2500"/>
              </a:spcBef>
              <a:buNone/>
            </a:pPr>
            <a:r>
              <a:rPr lang="en-US" sz="1400" b="1"/>
              <a:t>Preventing Over/Under-Watering</a:t>
            </a:r>
          </a:p>
          <a:p>
            <a:pPr marL="0" lvl="1" indent="0">
              <a:buNone/>
            </a:pPr>
            <a:r>
              <a:rPr lang="en-US" sz="1400"/>
              <a:t>The data collected is crucial for determining ideal watering times, preventing both over and under-watering of plants.</a:t>
            </a:r>
            <a:endParaRPr lang="pt-BR" sz="1400"/>
          </a:p>
        </p:txBody>
      </p:sp>
      <p:pic>
        <p:nvPicPr>
          <p:cNvPr id="5" name="Content Placeholder 4" descr="Garden tools standing on garden soil">
            <a:extLst>
              <a:ext uri="{FF2B5EF4-FFF2-40B4-BE49-F238E27FC236}">
                <a16:creationId xmlns:a16="http://schemas.microsoft.com/office/drawing/2014/main" id="{1897B3DE-370C-4167-9F2E-73B7F5A47A75}"/>
              </a:ext>
            </a:extLst>
          </p:cNvPr>
          <p:cNvPicPr>
            <a:picLocks noGrp="1" noChangeAspect="1"/>
          </p:cNvPicPr>
          <p:nvPr>
            <p:ph sz="half" idx="1"/>
          </p:nvPr>
        </p:nvPicPr>
        <p:blipFill>
          <a:blip r:embed="rId3"/>
          <a:srcRect l="21015" r="31814"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945430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F35048-7702-5BEB-E47D-5200B813B8EF}"/>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Role of ESP + LoRa Controllers in the Garden and Water Central</a:t>
            </a:r>
          </a:p>
        </p:txBody>
      </p:sp>
      <p:pic>
        <p:nvPicPr>
          <p:cNvPr id="5" name="Content Placeholder 4" descr="An old USB coiled cable attached to coiled tendrils of a creeper plant.">
            <a:extLst>
              <a:ext uri="{FF2B5EF4-FFF2-40B4-BE49-F238E27FC236}">
                <a16:creationId xmlns:a16="http://schemas.microsoft.com/office/drawing/2014/main" id="{0729910F-8EB6-4BE5-AACE-CE096DA30876}"/>
              </a:ext>
            </a:extLst>
          </p:cNvPr>
          <p:cNvPicPr>
            <a:picLocks noGrp="1" noChangeAspect="1"/>
          </p:cNvPicPr>
          <p:nvPr>
            <p:ph sz="half" idx="1"/>
          </p:nvPr>
        </p:nvPicPr>
        <p:blipFill>
          <a:blip r:embed="rId3"/>
          <a:srcRect l="17228" r="34979"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71443F70-0CF2-7B07-B8F9-359D700D771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Enhanced Communication</a:t>
            </a:r>
          </a:p>
          <a:p>
            <a:pPr marL="0" lvl="1" indent="0">
              <a:buNone/>
            </a:pPr>
            <a:r>
              <a:rPr lang="en-US" sz="1400"/>
              <a:t>ESP and LoRa controllers enable seamless communication between various sensors and the Control Central, optimizing garden management.</a:t>
            </a:r>
          </a:p>
          <a:p>
            <a:pPr marL="0" indent="0">
              <a:spcBef>
                <a:spcPts val="2500"/>
              </a:spcBef>
              <a:buNone/>
            </a:pPr>
            <a:r>
              <a:rPr lang="en-US" sz="1400" b="1"/>
              <a:t>Long-Range Monitoring</a:t>
            </a:r>
          </a:p>
          <a:p>
            <a:pPr marL="0" lvl="1" indent="0">
              <a:buNone/>
            </a:pPr>
            <a:r>
              <a:rPr lang="en-US" sz="1400"/>
              <a:t>The long-range capabilities of these controllers ensure effective monitoring over larger garden spaces, improving reliability.</a:t>
            </a:r>
          </a:p>
          <a:p>
            <a:pPr marL="0" indent="0">
              <a:spcBef>
                <a:spcPts val="2500"/>
              </a:spcBef>
              <a:buNone/>
            </a:pPr>
            <a:r>
              <a:rPr lang="en-US" sz="1400" b="1"/>
              <a:t>System Reliability</a:t>
            </a:r>
          </a:p>
          <a:p>
            <a:pPr marL="0" lvl="1" indent="0">
              <a:buNone/>
            </a:pPr>
            <a:r>
              <a:rPr lang="en-US" sz="1400"/>
              <a:t>Utilizing ESP and LoRa technology enhances the reliability of data transmission and sensor functionality within the garden.</a:t>
            </a:r>
            <a:endParaRPr lang="pt-BR" sz="1400"/>
          </a:p>
        </p:txBody>
      </p:sp>
    </p:spTree>
    <p:extLst>
      <p:ext uri="{BB962C8B-B14F-4D97-AF65-F5344CB8AC3E}">
        <p14:creationId xmlns:p14="http://schemas.microsoft.com/office/powerpoint/2010/main" val="3088377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BBF92-B24E-11FE-6C97-12F4F8379C0E}"/>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Integration with the Raspberry Pi Central Controller</a:t>
            </a:r>
          </a:p>
        </p:txBody>
      </p:sp>
      <p:pic>
        <p:nvPicPr>
          <p:cNvPr id="5" name="Content Placeholder 4" descr="Colorful data network telecommunication and electrical cables and wires">
            <a:extLst>
              <a:ext uri="{FF2B5EF4-FFF2-40B4-BE49-F238E27FC236}">
                <a16:creationId xmlns:a16="http://schemas.microsoft.com/office/drawing/2014/main" id="{C39B8AD6-5158-4441-B813-753E1B4250F5}"/>
              </a:ext>
            </a:extLst>
          </p:cNvPr>
          <p:cNvPicPr>
            <a:picLocks noGrp="1" noChangeAspect="1"/>
          </p:cNvPicPr>
          <p:nvPr>
            <p:ph sz="half" idx="1"/>
          </p:nvPr>
        </p:nvPicPr>
        <p:blipFill>
          <a:blip r:embed="rId3"/>
          <a:srcRect l="20625" r="31582"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AB4424E1-371B-BFB6-A647-75FDFB7BD9E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Centralized Data Processing</a:t>
            </a:r>
          </a:p>
          <a:p>
            <a:pPr marL="0" lvl="1" indent="0">
              <a:buNone/>
            </a:pPr>
            <a:r>
              <a:rPr lang="en-US" sz="1400"/>
              <a:t>Raspberry Pi acts as a central hub for collecting and processing data from various sensors in the garden.</a:t>
            </a:r>
          </a:p>
          <a:p>
            <a:pPr marL="0" indent="0">
              <a:spcBef>
                <a:spcPts val="2500"/>
              </a:spcBef>
              <a:buNone/>
            </a:pPr>
            <a:r>
              <a:rPr lang="en-US" sz="1400" b="1"/>
              <a:t>Automating Garden Management</a:t>
            </a:r>
          </a:p>
          <a:p>
            <a:pPr marL="0" lvl="1" indent="0">
              <a:buNone/>
            </a:pPr>
            <a:r>
              <a:rPr lang="en-US" sz="1400"/>
              <a:t>With predefined conditions, the Raspberry Pi can automate decisions for irrigation, lighting, and other gardening tasks to optimize growth.</a:t>
            </a:r>
          </a:p>
          <a:p>
            <a:pPr marL="0" indent="0">
              <a:spcBef>
                <a:spcPts val="2500"/>
              </a:spcBef>
              <a:buNone/>
            </a:pPr>
            <a:r>
              <a:rPr lang="en-US" sz="1400" b="1"/>
              <a:t>Sensor Integration</a:t>
            </a:r>
          </a:p>
          <a:p>
            <a:pPr marL="0" lvl="1" indent="0">
              <a:buNone/>
            </a:pPr>
            <a:r>
              <a:rPr lang="en-US" sz="1400"/>
              <a:t>Various sensors can be integrated with the Raspberry Pi to monitor soil moisture, temperature, and more for better garden health.</a:t>
            </a:r>
            <a:endParaRPr lang="pt-BR" sz="1400"/>
          </a:p>
        </p:txBody>
      </p:sp>
    </p:spTree>
    <p:extLst>
      <p:ext uri="{BB962C8B-B14F-4D97-AF65-F5344CB8AC3E}">
        <p14:creationId xmlns:p14="http://schemas.microsoft.com/office/powerpoint/2010/main" val="1388679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53D7E52-E412-D2D4-3037-1CA36BEA2207}"/>
              </a:ext>
            </a:extLst>
          </p:cNvPr>
          <p:cNvSpPr>
            <a:spLocks noGrp="1"/>
          </p:cNvSpPr>
          <p:nvPr>
            <p:ph type="ctrTitle"/>
          </p:nvPr>
        </p:nvSpPr>
        <p:spPr>
          <a:xfrm>
            <a:off x="277091" y="1814321"/>
            <a:ext cx="7772400" cy="4560920"/>
          </a:xfrm>
        </p:spPr>
        <p:txBody>
          <a:bodyPr anchor="b">
            <a:normAutofit/>
          </a:bodyPr>
          <a:lstStyle/>
          <a:p>
            <a:pPr algn="l"/>
            <a:r>
              <a:rPr lang="pt-BR" sz="7400"/>
              <a:t>Communication Protocols and Data Flow</a:t>
            </a:r>
          </a:p>
        </p:txBody>
      </p:sp>
    </p:spTree>
    <p:extLst>
      <p:ext uri="{BB962C8B-B14F-4D97-AF65-F5344CB8AC3E}">
        <p14:creationId xmlns:p14="http://schemas.microsoft.com/office/powerpoint/2010/main" val="225992725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001A16-7DEF-34F5-D63F-A61DA901918B}"/>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ESP + LoRa Communication Protocol</a:t>
            </a:r>
          </a:p>
        </p:txBody>
      </p:sp>
      <p:sp>
        <p:nvSpPr>
          <p:cNvPr id="4" name="Content Placeholder 3">
            <a:extLst>
              <a:ext uri="{FF2B5EF4-FFF2-40B4-BE49-F238E27FC236}">
                <a16:creationId xmlns:a16="http://schemas.microsoft.com/office/drawing/2014/main" id="{492C261B-A047-1A92-A0DC-23479810D6D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Low-Power Data Transmission</a:t>
            </a:r>
          </a:p>
          <a:p>
            <a:pPr marL="0" lvl="1" indent="0">
              <a:buNone/>
            </a:pPr>
            <a:r>
              <a:rPr lang="en-US" sz="1400"/>
              <a:t>ESP and LoRa protocols facilitate low-power communication, making them ideal for battery-operated devices.</a:t>
            </a:r>
          </a:p>
          <a:p>
            <a:pPr marL="0" indent="0">
              <a:spcBef>
                <a:spcPts val="2500"/>
              </a:spcBef>
              <a:buNone/>
            </a:pPr>
            <a:r>
              <a:rPr lang="en-US" sz="1400" b="1"/>
              <a:t>Long-Range Connectivity</a:t>
            </a:r>
          </a:p>
          <a:p>
            <a:pPr marL="0" lvl="1" indent="0">
              <a:buNone/>
            </a:pPr>
            <a:r>
              <a:rPr lang="en-US" sz="1400"/>
              <a:t>These protocols support long-range data transmission, allowing devices to communicate over vast distances.</a:t>
            </a:r>
          </a:p>
          <a:p>
            <a:pPr marL="0" indent="0">
              <a:spcBef>
                <a:spcPts val="2500"/>
              </a:spcBef>
              <a:buNone/>
            </a:pPr>
            <a:r>
              <a:rPr lang="en-US" sz="1400" b="1"/>
              <a:t>Performance in Challenging Conditions</a:t>
            </a:r>
          </a:p>
          <a:p>
            <a:pPr marL="0" lvl="1" indent="0">
              <a:buNone/>
            </a:pPr>
            <a:r>
              <a:rPr lang="en-US" sz="1400"/>
              <a:t>ESP and LoRa protocols maintain communication effectiveness even in challenging environmental conditions.</a:t>
            </a:r>
            <a:endParaRPr lang="pt-BR" sz="1400"/>
          </a:p>
        </p:txBody>
      </p:sp>
      <p:pic>
        <p:nvPicPr>
          <p:cNvPr id="5" name="Content Placeholder 4" descr="Smart City">
            <a:extLst>
              <a:ext uri="{FF2B5EF4-FFF2-40B4-BE49-F238E27FC236}">
                <a16:creationId xmlns:a16="http://schemas.microsoft.com/office/drawing/2014/main" id="{895A9872-5D6A-4EE6-8739-FB1F4F60A937}"/>
              </a:ext>
            </a:extLst>
          </p:cNvPr>
          <p:cNvPicPr>
            <a:picLocks noGrp="1" noChangeAspect="1"/>
          </p:cNvPicPr>
          <p:nvPr>
            <p:ph sz="half" idx="1"/>
          </p:nvPr>
        </p:nvPicPr>
        <p:blipFill>
          <a:blip r:embed="rId3"/>
          <a:srcRect l="24576" r="28253"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7821522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CF4074-046D-CA48-D78F-D70BB04867DA}"/>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300" b="1" kern="1200" dirty="0">
                <a:solidFill>
                  <a:schemeClr val="tx1"/>
                </a:solidFill>
                <a:latin typeface="+mj-lt"/>
                <a:ea typeface="+mj-ea"/>
                <a:cs typeface="+mj-cs"/>
              </a:rPr>
              <a:t>Data Transmission Between Garden, Water Central, and Control Central</a:t>
            </a:r>
          </a:p>
        </p:txBody>
      </p:sp>
      <p:sp>
        <p:nvSpPr>
          <p:cNvPr id="4" name="Content Placeholder 3">
            <a:extLst>
              <a:ext uri="{FF2B5EF4-FFF2-40B4-BE49-F238E27FC236}">
                <a16:creationId xmlns:a16="http://schemas.microsoft.com/office/drawing/2014/main" id="{C4AF3D7F-CABF-6A67-E48C-FA8CA8B570A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Real-Time Data Transmission</a:t>
            </a:r>
          </a:p>
          <a:p>
            <a:pPr marL="0" lvl="1" indent="0">
              <a:buNone/>
            </a:pPr>
            <a:r>
              <a:rPr lang="en-US" sz="1400"/>
              <a:t>Data is transmitted in real time from gardens to both the Water Central and Control Central, ensuring timely updates.</a:t>
            </a:r>
          </a:p>
          <a:p>
            <a:pPr marL="0" indent="0">
              <a:spcBef>
                <a:spcPts val="2500"/>
              </a:spcBef>
              <a:buNone/>
            </a:pPr>
            <a:r>
              <a:rPr lang="en-US" sz="1400" b="1"/>
              <a:t>Synchronization of Components</a:t>
            </a:r>
          </a:p>
          <a:p>
            <a:pPr marL="0" lvl="1" indent="0">
              <a:buNone/>
            </a:pPr>
            <a:r>
              <a:rPr lang="en-US" sz="1400"/>
              <a:t>The system ensures that all components are synchronized, allowing for efficient responses to changing environmental conditions.</a:t>
            </a:r>
          </a:p>
          <a:p>
            <a:pPr marL="0" indent="0">
              <a:spcBef>
                <a:spcPts val="2500"/>
              </a:spcBef>
              <a:buNone/>
            </a:pPr>
            <a:r>
              <a:rPr lang="en-US" sz="1400" b="1"/>
              <a:t>Response to Changing Conditions</a:t>
            </a:r>
          </a:p>
          <a:p>
            <a:pPr marL="0" lvl="1" indent="0">
              <a:buNone/>
            </a:pPr>
            <a:r>
              <a:rPr lang="en-US" sz="1400"/>
              <a:t>Quick response capabilities are crucial for adapting to changing conditions, which improves overall system efficiency.</a:t>
            </a:r>
            <a:endParaRPr lang="pt-BR" sz="1400"/>
          </a:p>
        </p:txBody>
      </p:sp>
      <p:pic>
        <p:nvPicPr>
          <p:cNvPr id="5" name="Content Placeholder 4" descr="Abstract chaotic city background">
            <a:extLst>
              <a:ext uri="{FF2B5EF4-FFF2-40B4-BE49-F238E27FC236}">
                <a16:creationId xmlns:a16="http://schemas.microsoft.com/office/drawing/2014/main" id="{DBBD5E24-9141-448F-A21D-60A240ECFFEA}"/>
              </a:ext>
            </a:extLst>
          </p:cNvPr>
          <p:cNvPicPr>
            <a:picLocks noGrp="1" noChangeAspect="1"/>
          </p:cNvPicPr>
          <p:nvPr>
            <p:ph sz="half" idx="1"/>
          </p:nvPr>
        </p:nvPicPr>
        <p:blipFill>
          <a:blip r:embed="rId3"/>
          <a:srcRect l="24568" r="2826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684548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22EE6-514F-D2BB-F03A-2816D2234F61}"/>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Managing and Processing Data Using Raspberry Pi</a:t>
            </a:r>
          </a:p>
        </p:txBody>
      </p:sp>
      <p:pic>
        <p:nvPicPr>
          <p:cNvPr id="5" name="Content Placeholder 4" descr="In the near future, smart phones and tablet terminals are held in the hands of artificial intelligence robots. All information is available by cloud computing,&#10;Shopping, telemedicine, education, telecommuting, everything is automated. At the same time the monitoring system will be strengthened for safety.">
            <a:extLst>
              <a:ext uri="{FF2B5EF4-FFF2-40B4-BE49-F238E27FC236}">
                <a16:creationId xmlns:a16="http://schemas.microsoft.com/office/drawing/2014/main" id="{0464E9F7-AC64-4786-992C-3EB63B959526}"/>
              </a:ext>
            </a:extLst>
          </p:cNvPr>
          <p:cNvPicPr>
            <a:picLocks noGrp="1" noChangeAspect="1"/>
          </p:cNvPicPr>
          <p:nvPr>
            <p:ph sz="half" idx="1"/>
          </p:nvPr>
        </p:nvPicPr>
        <p:blipFill>
          <a:blip r:embed="rId3"/>
          <a:srcRect l="26491" r="25716"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E309F6B6-B182-B059-A72E-B5D5B676FAF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Data Processing</a:t>
            </a:r>
          </a:p>
          <a:p>
            <a:pPr marL="0" lvl="1" indent="0">
              <a:buNone/>
            </a:pPr>
            <a:r>
              <a:rPr lang="en-US" sz="1400"/>
              <a:t>Raspberry Pi efficiently processes incoming data, allowing for real-time analysis and decision making.</a:t>
            </a:r>
          </a:p>
          <a:p>
            <a:pPr marL="0" indent="0">
              <a:spcBef>
                <a:spcPts val="2500"/>
              </a:spcBef>
              <a:buNone/>
            </a:pPr>
            <a:r>
              <a:rPr lang="en-US" sz="1400" b="1"/>
              <a:t>Automation Commands</a:t>
            </a:r>
          </a:p>
          <a:p>
            <a:pPr marL="0" lvl="1" indent="0">
              <a:buNone/>
            </a:pPr>
            <a:r>
              <a:rPr lang="en-US" sz="1400"/>
              <a:t>It executes commands for irrigation and various automation tasks, enhancing efficiency and resource management.</a:t>
            </a:r>
          </a:p>
          <a:p>
            <a:pPr marL="0" indent="0">
              <a:spcBef>
                <a:spcPts val="2500"/>
              </a:spcBef>
              <a:buNone/>
            </a:pPr>
            <a:r>
              <a:rPr lang="en-US" sz="1400" b="1"/>
              <a:t>Central Hub</a:t>
            </a:r>
          </a:p>
          <a:p>
            <a:pPr marL="0" lvl="1" indent="0">
              <a:buNone/>
            </a:pPr>
            <a:r>
              <a:rPr lang="en-US" sz="1400"/>
              <a:t>Raspberry Pi serves as a central hub, integrating various components of the automation system for seamless operation.</a:t>
            </a:r>
            <a:endParaRPr lang="pt-BR" sz="1400"/>
          </a:p>
        </p:txBody>
      </p:sp>
    </p:spTree>
    <p:extLst>
      <p:ext uri="{BB962C8B-B14F-4D97-AF65-F5344CB8AC3E}">
        <p14:creationId xmlns:p14="http://schemas.microsoft.com/office/powerpoint/2010/main" val="434103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AFA96F6-42B1-644E-9682-72D9ADC65244}"/>
              </a:ext>
            </a:extLst>
          </p:cNvPr>
          <p:cNvSpPr>
            <a:spLocks noGrp="1"/>
          </p:cNvSpPr>
          <p:nvPr>
            <p:ph type="ctrTitle"/>
          </p:nvPr>
        </p:nvSpPr>
        <p:spPr>
          <a:xfrm>
            <a:off x="277091" y="1814321"/>
            <a:ext cx="7772400" cy="4560920"/>
          </a:xfrm>
        </p:spPr>
        <p:txBody>
          <a:bodyPr anchor="b">
            <a:normAutofit/>
          </a:bodyPr>
          <a:lstStyle/>
          <a:p>
            <a:pPr algn="l"/>
            <a:r>
              <a:rPr lang="pt-BR" sz="7400"/>
              <a:t>Implementation and Programming</a:t>
            </a:r>
          </a:p>
        </p:txBody>
      </p:sp>
    </p:spTree>
    <p:extLst>
      <p:ext uri="{BB962C8B-B14F-4D97-AF65-F5344CB8AC3E}">
        <p14:creationId xmlns:p14="http://schemas.microsoft.com/office/powerpoint/2010/main" val="320702335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B8D153-5FC4-3B92-4FAD-812E93439904}"/>
              </a:ext>
            </a:extLst>
          </p:cNvPr>
          <p:cNvSpPr>
            <a:spLocks noGrp="1"/>
          </p:cNvSpPr>
          <p:nvPr>
            <p:ph type="title"/>
          </p:nvPr>
        </p:nvSpPr>
        <p:spPr>
          <a:xfrm>
            <a:off x="612648" y="548640"/>
            <a:ext cx="4803224" cy="1298446"/>
          </a:xfrm>
        </p:spPr>
        <p:txBody>
          <a:bodyPr vert="horz" lIns="91440" tIns="45720" rIns="91440" bIns="45720" rtlCol="0" anchor="t">
            <a:normAutofit/>
          </a:bodyPr>
          <a:lstStyle/>
          <a:p>
            <a:r>
              <a:rPr lang="en-US" b="1" kern="1200" dirty="0">
                <a:solidFill>
                  <a:schemeClr val="tx1"/>
                </a:solidFill>
                <a:latin typeface="+mj-lt"/>
                <a:ea typeface="+mj-ea"/>
                <a:cs typeface="+mj-cs"/>
              </a:rPr>
              <a:t>Setting up the Hardware</a:t>
            </a:r>
          </a:p>
        </p:txBody>
      </p:sp>
      <p:pic>
        <p:nvPicPr>
          <p:cNvPr id="5" name="Content Placeholder 4" descr="Artificial intelligence recognition on warehouse security computer screen. Machine learning person and object detection. The GUI and code are my work.">
            <a:extLst>
              <a:ext uri="{FF2B5EF4-FFF2-40B4-BE49-F238E27FC236}">
                <a16:creationId xmlns:a16="http://schemas.microsoft.com/office/drawing/2014/main" id="{3FC439B2-6131-4E62-9D88-C5BD874D23F4}"/>
              </a:ext>
            </a:extLst>
          </p:cNvPr>
          <p:cNvPicPr>
            <a:picLocks noGrp="1" noChangeAspect="1"/>
          </p:cNvPicPr>
          <p:nvPr>
            <p:ph sz="half" idx="1"/>
          </p:nvPr>
        </p:nvPicPr>
        <p:blipFill>
          <a:blip r:embed="rId3"/>
          <a:srcRect r="18527" b="3"/>
          <a:stretch>
            <a:fillRect/>
          </a:stretch>
        </p:blipFill>
        <p:spPr>
          <a:xfrm>
            <a:off x="731521" y="2011679"/>
            <a:ext cx="4684352" cy="4297680"/>
          </a:xfrm>
          <a:prstGeom prst="rect">
            <a:avLst/>
          </a:prstGeom>
        </p:spPr>
      </p:pic>
      <p:sp>
        <p:nvSpPr>
          <p:cNvPr id="4" name="Content Placeholder 3">
            <a:extLst>
              <a:ext uri="{FF2B5EF4-FFF2-40B4-BE49-F238E27FC236}">
                <a16:creationId xmlns:a16="http://schemas.microsoft.com/office/drawing/2014/main" id="{A85C21B3-6336-52CC-5D91-D536739686A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28520" y="548637"/>
            <a:ext cx="5546770" cy="5760723"/>
          </a:xfrm>
        </p:spPr>
        <p:txBody>
          <a:bodyPr>
            <a:normAutofit/>
          </a:bodyPr>
          <a:lstStyle/>
          <a:p>
            <a:pPr marL="0" indent="0">
              <a:spcBef>
                <a:spcPts val="2500"/>
              </a:spcBef>
              <a:buNone/>
            </a:pPr>
            <a:r>
              <a:rPr lang="en-US" sz="1400" b="1"/>
              <a:t>Importance of Hardware Setup</a:t>
            </a:r>
          </a:p>
          <a:p>
            <a:pPr marL="0" lvl="1" indent="0">
              <a:buNone/>
            </a:pPr>
            <a:r>
              <a:rPr lang="en-US" sz="1400"/>
              <a:t>A well-planned hardware setup is essential for the efficient operation of the automated garden system, ensuring all components work together seamlessly.</a:t>
            </a:r>
          </a:p>
          <a:p>
            <a:pPr marL="0" indent="0">
              <a:spcBef>
                <a:spcPts val="2500"/>
              </a:spcBef>
              <a:buNone/>
            </a:pPr>
            <a:r>
              <a:rPr lang="en-US" sz="1400" b="1"/>
              <a:t>Connecting Sensors and Controllers</a:t>
            </a:r>
          </a:p>
          <a:p>
            <a:pPr marL="0" lvl="1" indent="0">
              <a:buNone/>
            </a:pPr>
            <a:r>
              <a:rPr lang="en-US" sz="1400"/>
              <a:t>Properly connecting sensors and controllers is critical for monitoring environmental conditions and managing the automated garden effectively.</a:t>
            </a:r>
          </a:p>
          <a:p>
            <a:pPr marL="0" indent="0">
              <a:spcBef>
                <a:spcPts val="2500"/>
              </a:spcBef>
              <a:buNone/>
            </a:pPr>
            <a:r>
              <a:rPr lang="en-US" sz="1400" b="1"/>
              <a:t>Raspberry Pi Integration</a:t>
            </a:r>
          </a:p>
          <a:p>
            <a:pPr marL="0" lvl="1" indent="0">
              <a:buNone/>
            </a:pPr>
            <a:r>
              <a:rPr lang="en-US" sz="1400"/>
              <a:t>Integrating the Raspberry Pi into the hardware setup allows for advanced control and monitoring of the automated garden system.</a:t>
            </a:r>
            <a:endParaRPr lang="pt-BR" sz="1400"/>
          </a:p>
        </p:txBody>
      </p:sp>
    </p:spTree>
    <p:extLst>
      <p:ext uri="{BB962C8B-B14F-4D97-AF65-F5344CB8AC3E}">
        <p14:creationId xmlns:p14="http://schemas.microsoft.com/office/powerpoint/2010/main" val="1715259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2E8A542-FFE2-7CC1-D9A5-62A9FD76EAAA}"/>
              </a:ext>
            </a:extLst>
          </p:cNvPr>
          <p:cNvSpPr>
            <a:spLocks noGrp="1"/>
          </p:cNvSpPr>
          <p:nvPr>
            <p:ph type="title"/>
          </p:nvPr>
        </p:nvSpPr>
        <p:spPr>
          <a:xfrm>
            <a:off x="614679" y="548639"/>
            <a:ext cx="3977640" cy="5719640"/>
          </a:xfrm>
        </p:spPr>
        <p:txBody>
          <a:bodyPr anchor="t">
            <a:normAutofit/>
          </a:bodyPr>
          <a:lstStyle/>
          <a:p>
            <a:r>
              <a:rPr lang="pt-BR"/>
              <a:t>Programming ESP + LoRa Controllers</a:t>
            </a:r>
          </a:p>
        </p:txBody>
      </p:sp>
      <p:graphicFrame>
        <p:nvGraphicFramePr>
          <p:cNvPr id="4" name="Content Placeholder 4">
            <a:extLst>
              <a:ext uri="{FF2B5EF4-FFF2-40B4-BE49-F238E27FC236}">
                <a16:creationId xmlns:a16="http://schemas.microsoft.com/office/drawing/2014/main" id="{19060F12-643B-4605-846D-2CEAE72BE59A}"/>
              </a:ext>
            </a:extLst>
          </p:cNvPr>
          <p:cNvGraphicFramePr>
            <a:graphicFrameLocks noGrp="1"/>
          </p:cNvGraphicFramePr>
          <p:nvPr>
            <p:ph idx="1"/>
            <p:extLst>
              <p:ext uri="{D42A27DB-BD31-4B8C-83A1-F6EECF244321}">
                <p14:modId xmlns:p14="http://schemas.microsoft.com/office/powerpoint/2010/main" val="43543735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82697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AB731-8C65-E615-5394-B274385B0A48}"/>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300" b="1" kern="1200" dirty="0">
                <a:solidFill>
                  <a:schemeClr val="tx1"/>
                </a:solidFill>
                <a:latin typeface="+mj-lt"/>
                <a:ea typeface="+mj-ea"/>
                <a:cs typeface="+mj-cs"/>
              </a:rPr>
              <a:t>Configuring the Raspberry Pi for Garden Automation</a:t>
            </a:r>
          </a:p>
        </p:txBody>
      </p:sp>
      <p:sp>
        <p:nvSpPr>
          <p:cNvPr id="4" name="Content Placeholder 3">
            <a:extLst>
              <a:ext uri="{FF2B5EF4-FFF2-40B4-BE49-F238E27FC236}">
                <a16:creationId xmlns:a16="http://schemas.microsoft.com/office/drawing/2014/main" id="{099EA1B4-F07B-E307-96AD-59EF2994124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1400" b="1"/>
              <a:t>Software Installation</a:t>
            </a:r>
          </a:p>
          <a:p>
            <a:pPr marL="0" lvl="1" indent="0">
              <a:buNone/>
            </a:pPr>
            <a:r>
              <a:rPr lang="en-US" sz="1400"/>
              <a:t>Installing the necessary software on the Raspberry Pi is crucial for controlling the garden automation system efficiently.</a:t>
            </a:r>
          </a:p>
          <a:p>
            <a:pPr marL="0" indent="0">
              <a:spcBef>
                <a:spcPts val="2500"/>
              </a:spcBef>
              <a:buNone/>
            </a:pPr>
            <a:r>
              <a:rPr lang="en-US" sz="1400" b="1"/>
              <a:t>Script Configuration</a:t>
            </a:r>
          </a:p>
          <a:p>
            <a:pPr marL="0" lvl="1" indent="0">
              <a:buNone/>
            </a:pPr>
            <a:r>
              <a:rPr lang="en-US" sz="1400"/>
              <a:t>Setting up scripts for automated tasks allows the Raspberry Pi to manage watering, lighting, and monitoring in the garden.</a:t>
            </a:r>
          </a:p>
          <a:p>
            <a:pPr marL="0" indent="0">
              <a:spcBef>
                <a:spcPts val="2500"/>
              </a:spcBef>
              <a:buNone/>
            </a:pPr>
            <a:r>
              <a:rPr lang="en-US" sz="1400" b="1"/>
              <a:t>System Management</a:t>
            </a:r>
          </a:p>
          <a:p>
            <a:pPr marL="0" lvl="1" indent="0">
              <a:buNone/>
            </a:pPr>
            <a:r>
              <a:rPr lang="en-US" sz="1400"/>
              <a:t>Proper configuration ensures effective management of the automated garden system, leading to optimal plant care.</a:t>
            </a:r>
            <a:endParaRPr lang="pt-BR" sz="1400"/>
          </a:p>
        </p:txBody>
      </p:sp>
      <p:pic>
        <p:nvPicPr>
          <p:cNvPr id="5" name="Content Placeholder 4" descr="Electronic circuit board with IC Audio amplifier">
            <a:extLst>
              <a:ext uri="{FF2B5EF4-FFF2-40B4-BE49-F238E27FC236}">
                <a16:creationId xmlns:a16="http://schemas.microsoft.com/office/drawing/2014/main" id="{EDB8443F-793C-442A-A11C-6EFF27438054}"/>
              </a:ext>
            </a:extLst>
          </p:cNvPr>
          <p:cNvPicPr>
            <a:picLocks noGrp="1" noChangeAspect="1"/>
          </p:cNvPicPr>
          <p:nvPr>
            <p:ph sz="half" idx="1"/>
          </p:nvPr>
        </p:nvPicPr>
        <p:blipFill>
          <a:blip r:embed="rId3"/>
          <a:srcRect l="20287" r="32542"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693531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1C68259-5A47-C7D0-4D5E-33BB54EDAE10}"/>
              </a:ext>
            </a:extLst>
          </p:cNvPr>
          <p:cNvSpPr>
            <a:spLocks noGrp="1"/>
          </p:cNvSpPr>
          <p:nvPr>
            <p:ph type="ctrTitle"/>
          </p:nvPr>
        </p:nvSpPr>
        <p:spPr>
          <a:xfrm>
            <a:off x="277091" y="1814321"/>
            <a:ext cx="7772400" cy="4560920"/>
          </a:xfrm>
        </p:spPr>
        <p:txBody>
          <a:bodyPr anchor="b">
            <a:normAutofit/>
          </a:bodyPr>
          <a:lstStyle/>
          <a:p>
            <a:pPr algn="l"/>
            <a:r>
              <a:rPr lang="pt-BR" sz="7400"/>
              <a:t>Monitoring and Maintenance</a:t>
            </a:r>
          </a:p>
        </p:txBody>
      </p:sp>
    </p:spTree>
    <p:extLst>
      <p:ext uri="{BB962C8B-B14F-4D97-AF65-F5344CB8AC3E}">
        <p14:creationId xmlns:p14="http://schemas.microsoft.com/office/powerpoint/2010/main" val="110683748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4B35F1-8D0E-E22B-9808-A6EBCC83FE7C}"/>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Real-Time Monitoring of Garden Conditions</a:t>
            </a:r>
          </a:p>
        </p:txBody>
      </p:sp>
      <p:pic>
        <p:nvPicPr>
          <p:cNvPr id="5" name="Content Placeholder 4" descr="Unrecognizable person using a tablet computer at a greenhouse to look at plants.  Image on screen is own design.">
            <a:extLst>
              <a:ext uri="{FF2B5EF4-FFF2-40B4-BE49-F238E27FC236}">
                <a16:creationId xmlns:a16="http://schemas.microsoft.com/office/drawing/2014/main" id="{3422321B-CFFD-41D8-991C-2B4E9BB26F9E}"/>
              </a:ext>
            </a:extLst>
          </p:cNvPr>
          <p:cNvPicPr>
            <a:picLocks noGrp="1" noChangeAspect="1"/>
          </p:cNvPicPr>
          <p:nvPr>
            <p:ph sz="half" idx="1"/>
          </p:nvPr>
        </p:nvPicPr>
        <p:blipFill>
          <a:blip r:embed="rId3"/>
          <a:srcRect l="16643" r="35564"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FEC69D1E-701B-AD42-878A-C07873B6472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Immediate Response</a:t>
            </a:r>
          </a:p>
          <a:p>
            <a:pPr marL="0" lvl="1" indent="0">
              <a:buNone/>
            </a:pPr>
            <a:r>
              <a:rPr lang="en-US" sz="1400"/>
              <a:t>Real-time monitoring enables quick responses to fluctuations in garden conditions, enhancing plant health.</a:t>
            </a:r>
          </a:p>
          <a:p>
            <a:pPr marL="0" indent="0">
              <a:spcBef>
                <a:spcPts val="2500"/>
              </a:spcBef>
              <a:buNone/>
            </a:pPr>
            <a:r>
              <a:rPr lang="en-US" sz="1400" b="1"/>
              <a:t>Live Data Access</a:t>
            </a:r>
          </a:p>
          <a:p>
            <a:pPr marL="0" lvl="1" indent="0">
              <a:buNone/>
            </a:pPr>
            <a:r>
              <a:rPr lang="en-US" sz="1400"/>
              <a:t>Accessing live data ensures that gardeners can make informed decisions for optimal care of plants.</a:t>
            </a:r>
          </a:p>
          <a:p>
            <a:pPr marL="0" indent="0">
              <a:spcBef>
                <a:spcPts val="2500"/>
              </a:spcBef>
              <a:buNone/>
            </a:pPr>
            <a:r>
              <a:rPr lang="en-US" sz="1400" b="1"/>
              <a:t>Optimal Plant Care</a:t>
            </a:r>
          </a:p>
          <a:p>
            <a:pPr marL="0" lvl="1" indent="0">
              <a:buNone/>
            </a:pPr>
            <a:r>
              <a:rPr lang="en-US" sz="1400"/>
              <a:t>Real-time data helps maintain optimal conditions for plants, leading to better growth and yield.</a:t>
            </a:r>
            <a:endParaRPr lang="pt-BR" sz="1400"/>
          </a:p>
        </p:txBody>
      </p:sp>
    </p:spTree>
    <p:extLst>
      <p:ext uri="{BB962C8B-B14F-4D97-AF65-F5344CB8AC3E}">
        <p14:creationId xmlns:p14="http://schemas.microsoft.com/office/powerpoint/2010/main" val="1464449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F7B22-CC09-9F56-B405-C4C8DCC22A9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Automated Water Control Based on Humidity Levels</a:t>
            </a:r>
          </a:p>
        </p:txBody>
      </p:sp>
      <p:pic>
        <p:nvPicPr>
          <p:cNvPr id="5" name="Content Placeholder 4" descr="Organic vegetable salad garden">
            <a:extLst>
              <a:ext uri="{FF2B5EF4-FFF2-40B4-BE49-F238E27FC236}">
                <a16:creationId xmlns:a16="http://schemas.microsoft.com/office/drawing/2014/main" id="{1FE5C093-CED8-4ECD-B937-7C97C72143CB}"/>
              </a:ext>
            </a:extLst>
          </p:cNvPr>
          <p:cNvPicPr>
            <a:picLocks noGrp="1" noChangeAspect="1"/>
          </p:cNvPicPr>
          <p:nvPr>
            <p:ph sz="half" idx="1"/>
          </p:nvPr>
        </p:nvPicPr>
        <p:blipFill>
          <a:blip r:embed="rId3"/>
          <a:srcRect l="22829" r="29378"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CE971856-23DE-BB1A-F2B4-765BB5529E8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Automated Irrigation Systems</a:t>
            </a:r>
          </a:p>
          <a:p>
            <a:pPr marL="0" lvl="1" indent="0">
              <a:buNone/>
            </a:pPr>
            <a:r>
              <a:rPr lang="en-US" sz="1400"/>
              <a:t>Automated irrigation systems optimize water usage by adjusting schedules based on real-time humidity sensor data.</a:t>
            </a:r>
          </a:p>
          <a:p>
            <a:pPr marL="0" indent="0">
              <a:spcBef>
                <a:spcPts val="2500"/>
              </a:spcBef>
              <a:buNone/>
            </a:pPr>
            <a:r>
              <a:rPr lang="en-US" sz="1400" b="1"/>
              <a:t>Efficiency in Water Usage</a:t>
            </a:r>
          </a:p>
          <a:p>
            <a:pPr marL="0" lvl="1" indent="0">
              <a:buNone/>
            </a:pPr>
            <a:r>
              <a:rPr lang="en-US" sz="1400"/>
              <a:t>This technology ensures efficient water usage for plants, reducing waste and promoting healthy growth.</a:t>
            </a:r>
          </a:p>
          <a:p>
            <a:pPr marL="0" indent="0">
              <a:spcBef>
                <a:spcPts val="2500"/>
              </a:spcBef>
              <a:buNone/>
            </a:pPr>
            <a:r>
              <a:rPr lang="en-US" sz="1400" b="1"/>
              <a:t>Sensor Technology</a:t>
            </a:r>
          </a:p>
          <a:p>
            <a:pPr marL="0" lvl="1" indent="0">
              <a:buNone/>
            </a:pPr>
            <a:r>
              <a:rPr lang="en-US" sz="1400"/>
              <a:t>Humidity sensors play a crucial role in monitoring soil moisture levels for timely watering adjustments.</a:t>
            </a:r>
            <a:endParaRPr lang="pt-BR" sz="1400"/>
          </a:p>
        </p:txBody>
      </p:sp>
    </p:spTree>
    <p:extLst>
      <p:ext uri="{BB962C8B-B14F-4D97-AF65-F5344CB8AC3E}">
        <p14:creationId xmlns:p14="http://schemas.microsoft.com/office/powerpoint/2010/main" val="5100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04A7F6-006F-683A-1844-1B8F52A33DC9}"/>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Periodic Maintenance and Troubleshooting</a:t>
            </a:r>
          </a:p>
        </p:txBody>
      </p:sp>
      <p:pic>
        <p:nvPicPr>
          <p:cNvPr id="5" name="Content Placeholder 4" descr="Man gardening outdoors">
            <a:extLst>
              <a:ext uri="{FF2B5EF4-FFF2-40B4-BE49-F238E27FC236}">
                <a16:creationId xmlns:a16="http://schemas.microsoft.com/office/drawing/2014/main" id="{AAEE3663-E13B-4029-BB31-66FF8AF2EB5C}"/>
              </a:ext>
            </a:extLst>
          </p:cNvPr>
          <p:cNvPicPr>
            <a:picLocks noGrp="1" noChangeAspect="1"/>
          </p:cNvPicPr>
          <p:nvPr>
            <p:ph sz="half" idx="1"/>
          </p:nvPr>
        </p:nvPicPr>
        <p:blipFill>
          <a:blip r:embed="rId3"/>
          <a:srcRect l="26553" r="25653"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36CC3CCD-49AD-013D-104C-2F11C0A1486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a:t>Importance of Regular Maintenance</a:t>
            </a:r>
          </a:p>
          <a:p>
            <a:pPr marL="0" lvl="1" indent="0">
              <a:buNone/>
            </a:pPr>
            <a:r>
              <a:rPr lang="en-US" sz="1400"/>
              <a:t>Regular maintenance is crucial for preventing system failures and ensuring optimal performance of the garden's ecosystem.</a:t>
            </a:r>
          </a:p>
          <a:p>
            <a:pPr marL="0" indent="0">
              <a:spcBef>
                <a:spcPts val="2500"/>
              </a:spcBef>
              <a:buNone/>
            </a:pPr>
            <a:r>
              <a:rPr lang="en-US" sz="1400" b="1"/>
              <a:t>Early Issue Identification</a:t>
            </a:r>
          </a:p>
          <a:p>
            <a:pPr marL="0" lvl="1" indent="0">
              <a:buNone/>
            </a:pPr>
            <a:r>
              <a:rPr lang="en-US" sz="1400"/>
              <a:t>Conducting frequent checks allows for early identification of potential problems, safeguarding the garden's health and vitality.</a:t>
            </a:r>
          </a:p>
          <a:p>
            <a:pPr marL="0" indent="0">
              <a:spcBef>
                <a:spcPts val="2500"/>
              </a:spcBef>
              <a:buNone/>
            </a:pPr>
            <a:r>
              <a:rPr lang="en-US" sz="1400" b="1"/>
              <a:t>Preventing System Failures</a:t>
            </a:r>
          </a:p>
          <a:p>
            <a:pPr marL="0" lvl="1" indent="0">
              <a:buNone/>
            </a:pPr>
            <a:r>
              <a:rPr lang="en-US" sz="1400"/>
              <a:t>Effective troubleshooting prevents system failures by addressing issues before they escalate into larger problems.</a:t>
            </a:r>
            <a:endParaRPr lang="pt-BR" sz="1400"/>
          </a:p>
        </p:txBody>
      </p:sp>
    </p:spTree>
    <p:extLst>
      <p:ext uri="{BB962C8B-B14F-4D97-AF65-F5344CB8AC3E}">
        <p14:creationId xmlns:p14="http://schemas.microsoft.com/office/powerpoint/2010/main" val="14573665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C47D5E0-35D9-9CE4-DB0C-8F5601063424}"/>
              </a:ext>
            </a:extLst>
          </p:cNvPr>
          <p:cNvSpPr>
            <a:spLocks noGrp="1"/>
          </p:cNvSpPr>
          <p:nvPr>
            <p:ph type="title"/>
          </p:nvPr>
        </p:nvSpPr>
        <p:spPr>
          <a:xfrm>
            <a:off x="612648" y="1847088"/>
            <a:ext cx="7344336" cy="1133856"/>
          </a:xfrm>
        </p:spPr>
        <p:txBody>
          <a:bodyPr anchor="b">
            <a:normAutofit/>
          </a:bodyPr>
          <a:lstStyle/>
          <a:p>
            <a:r>
              <a:rPr lang="pt-BR" sz="6000"/>
              <a:t>Conclusion</a:t>
            </a:r>
          </a:p>
        </p:txBody>
      </p:sp>
      <p:graphicFrame>
        <p:nvGraphicFramePr>
          <p:cNvPr id="9" name="Content Placeholder 2">
            <a:extLst>
              <a:ext uri="{FF2B5EF4-FFF2-40B4-BE49-F238E27FC236}">
                <a16:creationId xmlns:a16="http://schemas.microsoft.com/office/drawing/2014/main" id="{211D6BF3-C67E-05AC-E978-89A61C07E1FA}"/>
              </a:ext>
            </a:extLst>
          </p:cNvPr>
          <p:cNvGraphicFramePr>
            <a:graphicFrameLocks noGrp="1"/>
          </p:cNvGraphicFramePr>
          <p:nvPr>
            <p:ph idx="1"/>
            <p:extLst>
              <p:ext uri="{D42A27DB-BD31-4B8C-83A1-F6EECF244321}">
                <p14:modId xmlns:p14="http://schemas.microsoft.com/office/powerpoint/2010/main" val="1573450971"/>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7959526"/>
      </p:ext>
    </p:extLst>
  </p:cSld>
  <p:clrMapOvr>
    <a:overrideClrMapping bg1="dk1" tx1="lt1" bg2="dk2" tx2="lt2" accent1="accent1" accent2="accent2" accent3="accent3" accent4="accent4" accent5="accent5" accent6="accent6" hlink="hlink" folHlink="folHlink"/>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B1AEE5-E96F-B726-BEFE-55124146C801}"/>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a:solidFill>
                  <a:schemeClr val="tx1"/>
                </a:solidFill>
                <a:latin typeface="+mj-lt"/>
                <a:ea typeface="+mj-ea"/>
                <a:cs typeface="+mj-cs"/>
              </a:rPr>
              <a:t>Fair Cost</a:t>
            </a:r>
            <a:endParaRPr lang="en-US" b="1" kern="1200" dirty="0">
              <a:solidFill>
                <a:schemeClr val="tx1"/>
              </a:solidFill>
              <a:latin typeface="+mj-lt"/>
              <a:ea typeface="+mj-ea"/>
              <a:cs typeface="+mj-cs"/>
            </a:endParaRPr>
          </a:p>
        </p:txBody>
      </p:sp>
      <p:pic>
        <p:nvPicPr>
          <p:cNvPr id="5" name="Content Placeholder 4" descr="Urban farming of Kale">
            <a:extLst>
              <a:ext uri="{FF2B5EF4-FFF2-40B4-BE49-F238E27FC236}">
                <a16:creationId xmlns:a16="http://schemas.microsoft.com/office/drawing/2014/main" id="{C7488106-3361-4B0C-B213-EC0A702FB9F8}"/>
              </a:ext>
            </a:extLst>
          </p:cNvPr>
          <p:cNvPicPr>
            <a:picLocks noGrp="1" noChangeAspect="1"/>
          </p:cNvPicPr>
          <p:nvPr>
            <p:ph sz="half" idx="1"/>
          </p:nvPr>
        </p:nvPicPr>
        <p:blipFill>
          <a:blip r:embed="rId3"/>
          <a:srcRect l="23344" r="28862"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A48303B6-60AC-B431-4255-8F393D3AFC6E}"/>
              </a:ext>
            </a:extLst>
          </p:cNvPr>
          <p:cNvSpPr>
            <a:spLocks noGrp="1"/>
          </p:cNvSpPr>
          <p:nvPr>
            <p:ph sz="half" idx="2"/>
          </p:nvPr>
        </p:nvSpPr>
        <p:spPr>
          <a:xfrm>
            <a:off x="5568533" y="2214282"/>
            <a:ext cx="5916169" cy="4095078"/>
          </a:xfrm>
        </p:spPr>
        <p:txBody>
          <a:bodyPr vert="horz" lIns="91440" tIns="45720" rIns="91440" bIns="45720" rtlCol="0">
            <a:normAutofit/>
          </a:bodyPr>
          <a:lstStyle/>
          <a:p>
            <a:pPr>
              <a:lnSpc>
                <a:spcPct val="110000"/>
              </a:lnSpc>
            </a:pPr>
            <a:r>
              <a:rPr lang="en-US" sz="1500"/>
              <a:t>Efficient Garden Management</a:t>
            </a:r>
          </a:p>
          <a:p>
            <a:pPr>
              <a:lnSpc>
                <a:spcPct val="110000"/>
              </a:lnSpc>
            </a:pPr>
            <a:r>
              <a:rPr lang="en-US" sz="1500"/>
              <a:t>Integrating ESP, LoRa, and Raspberry Pi creates an efficient system for monitoring and controlling garden conditions.</a:t>
            </a:r>
          </a:p>
          <a:p>
            <a:pPr>
              <a:lnSpc>
                <a:spcPct val="110000"/>
              </a:lnSpc>
            </a:pPr>
            <a:r>
              <a:rPr lang="en-US" sz="1500"/>
              <a:t>Optimal Plant Health</a:t>
            </a:r>
          </a:p>
          <a:p>
            <a:pPr>
              <a:lnSpc>
                <a:spcPct val="110000"/>
              </a:lnSpc>
            </a:pPr>
            <a:r>
              <a:rPr lang="en-US" sz="1500"/>
              <a:t>These technologies allow gardeners to maintain optimal conditions for plant growth, enhancing health and yield.</a:t>
            </a:r>
          </a:p>
          <a:p>
            <a:pPr>
              <a:lnSpc>
                <a:spcPct val="110000"/>
              </a:lnSpc>
            </a:pPr>
            <a:r>
              <a:rPr lang="en-US" sz="1500"/>
              <a:t>Resource Minimization</a:t>
            </a:r>
          </a:p>
          <a:p>
            <a:pPr>
              <a:lnSpc>
                <a:spcPct val="110000"/>
              </a:lnSpc>
            </a:pPr>
            <a:r>
              <a:rPr lang="en-US" sz="1500"/>
              <a:t>The use of these smart technologies reduces labor and resource use, making gardening more sustainable.</a:t>
            </a:r>
          </a:p>
          <a:p>
            <a:pPr>
              <a:lnSpc>
                <a:spcPct val="110000"/>
              </a:lnSpc>
            </a:pPr>
            <a:r>
              <a:rPr lang="en-US" sz="1500"/>
              <a:t>Fair Cost of Automation</a:t>
            </a:r>
          </a:p>
          <a:p>
            <a:pPr>
              <a:lnSpc>
                <a:spcPct val="110000"/>
              </a:lnSpc>
            </a:pPr>
            <a:r>
              <a:rPr lang="en-US" sz="1500"/>
              <a:t>Investing in automation is a cost-effective solution for long-term garden management.</a:t>
            </a:r>
          </a:p>
        </p:txBody>
      </p:sp>
    </p:spTree>
    <p:extLst>
      <p:ext uri="{BB962C8B-B14F-4D97-AF65-F5344CB8AC3E}">
        <p14:creationId xmlns:p14="http://schemas.microsoft.com/office/powerpoint/2010/main" val="1968350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EDB1E-E880-EA89-AE81-32247DC79596}"/>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Estimated Material Costs for Garden Automation</a:t>
            </a:r>
          </a:p>
        </p:txBody>
      </p:sp>
      <p:sp>
        <p:nvSpPr>
          <p:cNvPr id="4" name="Content Placeholder 3">
            <a:extLst>
              <a:ext uri="{FF2B5EF4-FFF2-40B4-BE49-F238E27FC236}">
                <a16:creationId xmlns:a16="http://schemas.microsoft.com/office/drawing/2014/main" id="{40D34FA6-29BA-1D84-9591-57AAE979CB7C}"/>
              </a:ext>
            </a:extLst>
          </p:cNvPr>
          <p:cNvSpPr>
            <a:spLocks noGrp="1"/>
          </p:cNvSpPr>
          <p:nvPr>
            <p:ph sz="half" idx="2"/>
          </p:nvPr>
        </p:nvSpPr>
        <p:spPr>
          <a:xfrm>
            <a:off x="612647" y="2212848"/>
            <a:ext cx="4494612" cy="4096512"/>
          </a:xfrm>
        </p:spPr>
        <p:txBody>
          <a:bodyPr vert="horz" lIns="91440" tIns="45720" rIns="91440" bIns="45720" rtlCol="0">
            <a:normAutofit fontScale="92500" lnSpcReduction="20000"/>
          </a:bodyPr>
          <a:lstStyle/>
          <a:p>
            <a:r>
              <a:rPr lang="en-US" sz="1800" dirty="0"/>
              <a:t>12x Soil Sensor: $3 per unit, monitors moisture levels.</a:t>
            </a:r>
          </a:p>
          <a:p>
            <a:r>
              <a:rPr lang="en-US" sz="1800" dirty="0"/>
              <a:t>1x Humidity/Temperature/Pression sensor: $25 per unit, monitors moisture levels.</a:t>
            </a:r>
          </a:p>
          <a:p>
            <a:r>
              <a:rPr lang="en-US" sz="1800" dirty="0"/>
              <a:t>1x Raspberry Pi: $210, serves as the central processing unit.</a:t>
            </a:r>
          </a:p>
          <a:p>
            <a:r>
              <a:rPr lang="en-US" sz="1800" dirty="0"/>
              <a:t>3x ESP + LoRa Module: $30 per unit, provides long-range communication.</a:t>
            </a:r>
          </a:p>
          <a:p>
            <a:r>
              <a:rPr lang="en-US" sz="1800" dirty="0"/>
              <a:t>3x Water Pump: $50 per unit, automates irrigation tasks.</a:t>
            </a:r>
          </a:p>
          <a:p>
            <a:r>
              <a:rPr lang="en-US" sz="1800" dirty="0"/>
              <a:t>3x Controller System: $30 per unit, manages various garden components.</a:t>
            </a:r>
          </a:p>
        </p:txBody>
      </p:sp>
      <p:pic>
        <p:nvPicPr>
          <p:cNvPr id="5" name="Content Placeholder 4" descr="Eco friendly gardening. Animal repeller in a garden emits wide-range ultrasonic signals, thus repelling several species of animals.">
            <a:extLst>
              <a:ext uri="{FF2B5EF4-FFF2-40B4-BE49-F238E27FC236}">
                <a16:creationId xmlns:a16="http://schemas.microsoft.com/office/drawing/2014/main" id="{C27062CB-9E3A-459F-84A9-BB721451446B}"/>
              </a:ext>
            </a:extLst>
          </p:cNvPr>
          <p:cNvPicPr>
            <a:picLocks noGrp="1" noChangeAspect="1"/>
          </p:cNvPicPr>
          <p:nvPr>
            <p:ph sz="half" idx="1"/>
          </p:nvPr>
        </p:nvPicPr>
        <p:blipFill>
          <a:blip r:embed="rId3"/>
          <a:srcRect l="7868" r="30332"/>
          <a:stretch>
            <a:fillRect/>
          </a:stretch>
        </p:blipFill>
        <p:spPr>
          <a:xfrm>
            <a:off x="5818632" y="-1"/>
            <a:ext cx="6373368" cy="6858001"/>
          </a:xfrm>
          <a:prstGeom prst="rect">
            <a:avLst/>
          </a:prstGeom>
        </p:spPr>
      </p:pic>
    </p:spTree>
    <p:extLst>
      <p:ext uri="{BB962C8B-B14F-4D97-AF65-F5344CB8AC3E}">
        <p14:creationId xmlns:p14="http://schemas.microsoft.com/office/powerpoint/2010/main" val="168445571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1202</TotalTime>
  <Words>3184</Words>
  <Application>Microsoft Office PowerPoint</Application>
  <PresentationFormat>Widescreen</PresentationFormat>
  <Paragraphs>249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Neue Haas Grotesk Text Pro</vt:lpstr>
      <vt:lpstr>VanillaVTI</vt:lpstr>
      <vt:lpstr>Automated Garden System: Integration of ESP + LoRa &amp; Raspberry Pi for Efficient Garden Management</vt:lpstr>
      <vt:lpstr>Topics to be Discussed</vt:lpstr>
      <vt:lpstr>Investing in Your Garden's Future</vt:lpstr>
      <vt:lpstr>Introduction to Garden Automation</vt:lpstr>
      <vt:lpstr>Overview of Automated Garden Systems</vt:lpstr>
      <vt:lpstr>Benefits of Garden Automation</vt:lpstr>
      <vt:lpstr>Components Involved in Garden Automation</vt:lpstr>
      <vt:lpstr>Costs of Garden Automation</vt:lpstr>
      <vt:lpstr>System Architecture and Components</vt:lpstr>
      <vt:lpstr>Description of the Two Gardens</vt:lpstr>
      <vt:lpstr>Water Central Setup and Functionality</vt:lpstr>
      <vt:lpstr>Repository Levels for Optimal Water Management</vt:lpstr>
      <vt:lpstr>Control Central in the House</vt:lpstr>
      <vt:lpstr>Sensors and Controllers</vt:lpstr>
      <vt:lpstr>Placement and Function of Humidity Sensors</vt:lpstr>
      <vt:lpstr>Role of ESP + LoRa Controllers in the Garden and Water Central</vt:lpstr>
      <vt:lpstr>Integration with the Raspberry Pi Central Controller</vt:lpstr>
      <vt:lpstr>Communication Protocols and Data Flow</vt:lpstr>
      <vt:lpstr>ESP + LoRa Communication Protocol</vt:lpstr>
      <vt:lpstr>Data Transmission Between Garden, Water Central, and Control Central</vt:lpstr>
      <vt:lpstr>Managing and Processing Data Using Raspberry Pi</vt:lpstr>
      <vt:lpstr>Implementation and Programming</vt:lpstr>
      <vt:lpstr>Setting up the Hardware</vt:lpstr>
      <vt:lpstr>Programming ESP + LoRa Controllers</vt:lpstr>
      <vt:lpstr>Configuring the Raspberry Pi for Garden Automation</vt:lpstr>
      <vt:lpstr>Monitoring and Maintenance</vt:lpstr>
      <vt:lpstr>Real-Time Monitoring of Garden Conditions</vt:lpstr>
      <vt:lpstr>Automated Water Control Based on Humidity Levels</vt:lpstr>
      <vt:lpstr>Periodic Maintenance and Troubleshooting</vt:lpstr>
      <vt:lpstr>Conclusion</vt:lpstr>
      <vt:lpstr>Fair Cost</vt:lpstr>
      <vt:lpstr>Estimated Material Costs for Garden Automation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Alvaro Adriano Beck</dc:creator>
  <cp:lastModifiedBy>Alvaro Adriano Beck</cp:lastModifiedBy>
  <cp:revision>1</cp:revision>
  <dcterms:created xsi:type="dcterms:W3CDTF">2025-07-08T02:08:09Z</dcterms:created>
  <dcterms:modified xsi:type="dcterms:W3CDTF">2025-07-08T22:12:05Z</dcterms:modified>
</cp:coreProperties>
</file>